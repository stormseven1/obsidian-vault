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 type="screen4x3"/>
  <p:notesSz cx="6858000" cy="9144000"/>
  <p:defaultTextStyle>
    <a:defPPr>
      <a:defRPr lang="zh-CN">
        <a:latin typeface="微软雅黑" panose="020B0503020204020204" charset="-122"/>
        <a:ea typeface="微软雅黑" panose="020B0503020204020204" charset="-122"/>
      </a:defRPr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384048" y="201168"/>
            <a:ext cx="11430000" cy="219456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8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ARCHITECTURE · FLOW · SEQUENCE · COMPOSITION</a:t>
            </a:r>
            <a:endParaRPr lang="zh-CN" sz="80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384048" y="475488"/>
            <a:ext cx="7498080" cy="493776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雷达智能体子系统图组</a:t>
            </a:r>
            <a:endParaRPr lang="zh-CN" sz="2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Line 5"/>
          <p:cNvSpPr/>
          <p:nvPr/>
        </p:nvSpPr>
        <p:spPr>
          <a:xfrm>
            <a:off x="384048" y="1060704"/>
            <a:ext cx="11411712" cy="1"/>
          </a:xfrm>
          <a:prstGeom prst="line">
            <a:avLst/>
          </a:prstGeom>
          <a:noFill/>
          <a:ln w="12700">
            <a:solidFill>
              <a:srgbClr val="CBD5E1"/>
            </a:solidFill>
          </a:ln>
        </p:spPr>
      </p:sp>
      <p:sp>
        <p:nvSpPr>
          <p:cNvPr id="6" name="Shape 6"/>
          <p:cNvSpPr/>
          <p:nvPr/>
        </p:nvSpPr>
        <p:spPr>
          <a:xfrm>
            <a:off x="10515600" y="475488"/>
            <a:ext cx="128016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9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01 / 09</a:t>
            </a:r>
            <a:endParaRPr lang="zh-CN" sz="90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384048" y="1115568"/>
            <a:ext cx="10881360" cy="292608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0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面向方案文档和汇报复用的可编辑 PowerPoint 原生图形</a:t>
            </a:r>
            <a:endParaRPr lang="zh-CN" sz="10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12" name="Shape 12"/>
          <p:cNvSpPr/>
          <p:nvPr/>
        </p:nvSpPr>
        <p:spPr>
          <a:xfrm>
            <a:off x="566928" y="475488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900" b="1">
                <a:solidFill>
                  <a:srgbClr val="B9C7E6"/>
                </a:solidFill>
                <a:latin typeface="微软雅黑" panose="020B0503020204020204" charset="-122"/>
                <a:ea typeface="微软雅黑" panose="020B0503020204020204" charset="-122"/>
              </a:rPr>
              <a:t>LD AGENT SUBSYSTEM · 2026.05</a:t>
            </a:r>
            <a:endParaRPr lang="zh-CN" sz="900" b="1">
              <a:solidFill>
                <a:srgbClr val="B9C7E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566928" y="1170432"/>
            <a:ext cx="685800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3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雷达智能体</a:t>
            </a:r>
            <a:endParaRPr lang="zh-CN" sz="3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3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架构流程图组</a:t>
            </a:r>
            <a:endParaRPr lang="zh-CN" sz="3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Shape 14"/>
          <p:cNvSpPr/>
          <p:nvPr/>
        </p:nvSpPr>
        <p:spPr>
          <a:xfrm>
            <a:off x="640080" y="2788920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500">
                <a:solidFill>
                  <a:srgbClr val="D7DEEE"/>
                </a:solidFill>
                <a:latin typeface="微软雅黑" panose="020B0503020204020204" charset="-122"/>
                <a:ea typeface="微软雅黑" panose="020B0503020204020204" charset="-122"/>
              </a:rPr>
              <a:t>用于 PPT 汇报，也可复制到 Word 方案文档。图形由原生形状、线条和文本组成，后续可直接编辑。</a:t>
            </a:r>
            <a:endParaRPr lang="zh-CN" sz="1500">
              <a:solidFill>
                <a:srgbClr val="D7DE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Shape 15"/>
          <p:cNvSpPr/>
          <p:nvPr/>
        </p:nvSpPr>
        <p:spPr>
          <a:xfrm>
            <a:off x="713232" y="4800600"/>
            <a:ext cx="2331720" cy="960120"/>
          </a:xfrm>
          <a:prstGeom prst="roundRect">
            <a:avLst/>
          </a:prstGeom>
          <a:solidFill>
            <a:srgbClr val="111C32"/>
          </a:solidFill>
          <a:ln w="15240">
            <a:solidFill>
              <a:srgbClr val="2E436C"/>
            </a:solidFill>
          </a:ln>
        </p:spPr>
        <p:txBody>
          <a:bodyPr wrap="square" lIns="91440" tIns="50292" rIns="91440" bIns="50292" anchor="ctr"/>
          <a:lstStyle/>
          <a:p>
            <a:pPr algn="l"/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总体架构</a:t>
            </a:r>
            <a:endParaRPr lang="zh-CN" sz="1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外部系统、智能体核心与输出联动</a:t>
            </a:r>
            <a:endParaRPr lang="zh-CN" sz="1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3502152" y="4800600"/>
            <a:ext cx="2331720" cy="960120"/>
          </a:xfrm>
          <a:prstGeom prst="roundRect">
            <a:avLst/>
          </a:prstGeom>
          <a:solidFill>
            <a:srgbClr val="111C32"/>
          </a:solidFill>
          <a:ln w="15240">
            <a:solidFill>
              <a:srgbClr val="2E436C"/>
            </a:solidFill>
          </a:ln>
        </p:spPr>
        <p:txBody>
          <a:bodyPr wrap="square" lIns="91440" tIns="50292" rIns="91440" bIns="50292" anchor="ctr"/>
          <a:lstStyle/>
          <a:p>
            <a:pPr algn="l"/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功能组成</a:t>
            </a:r>
            <a:endParaRPr lang="zh-CN" sz="1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五大模块与贯穿治理机制</a:t>
            </a:r>
            <a:endParaRPr lang="zh-CN" sz="1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Shape 17"/>
          <p:cNvSpPr/>
          <p:nvPr/>
        </p:nvSpPr>
        <p:spPr>
          <a:xfrm>
            <a:off x="6291072" y="4800600"/>
            <a:ext cx="2331720" cy="960120"/>
          </a:xfrm>
          <a:prstGeom prst="roundRect">
            <a:avLst/>
          </a:prstGeom>
          <a:solidFill>
            <a:srgbClr val="111C32"/>
          </a:solidFill>
          <a:ln w="15240">
            <a:solidFill>
              <a:srgbClr val="2E436C"/>
            </a:solidFill>
          </a:ln>
        </p:spPr>
        <p:txBody>
          <a:bodyPr wrap="square" lIns="91440" tIns="50292" rIns="91440" bIns="50292" anchor="ctr"/>
          <a:lstStyle/>
          <a:p>
            <a:pPr algn="l"/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执行流程</a:t>
            </a:r>
            <a:endParaRPr lang="zh-CN" sz="1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从任务触发到追溯记忆</a:t>
            </a:r>
            <a:endParaRPr lang="zh-CN" sz="1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Shape 18"/>
          <p:cNvSpPr/>
          <p:nvPr/>
        </p:nvSpPr>
        <p:spPr>
          <a:xfrm>
            <a:off x="9079992" y="4800600"/>
            <a:ext cx="2331720" cy="960120"/>
          </a:xfrm>
          <a:prstGeom prst="roundRect">
            <a:avLst/>
          </a:prstGeom>
          <a:solidFill>
            <a:srgbClr val="111C32"/>
          </a:solidFill>
          <a:ln w="15240">
            <a:solidFill>
              <a:srgbClr val="2E436C"/>
            </a:solidFill>
          </a:ln>
        </p:spPr>
        <p:txBody>
          <a:bodyPr wrap="square" lIns="91440" tIns="50292" rIns="91440" bIns="50292" anchor="ctr"/>
          <a:lstStyle/>
          <a:p>
            <a:pPr algn="l"/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时序交互</a:t>
            </a:r>
            <a:endParaRPr lang="zh-CN" sz="1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低风险工具与高风险工作流</a:t>
            </a:r>
            <a:endParaRPr lang="zh-CN" sz="1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Line 19"/>
          <p:cNvSpPr/>
          <p:nvPr/>
        </p:nvSpPr>
        <p:spPr>
          <a:xfrm>
            <a:off x="7863840" y="914400"/>
            <a:ext cx="3520440" cy="4983480"/>
          </a:xfrm>
          <a:prstGeom prst="line">
            <a:avLst/>
          </a:prstGeom>
          <a:noFill/>
          <a:ln w="25400">
            <a:solidFill>
              <a:srgbClr val="355B96"/>
            </a:solidFill>
            <a:prstDash val="dash"/>
          </a:ln>
        </p:spPr>
      </p:sp>
      <p:sp>
        <p:nvSpPr>
          <p:cNvPr id="20" name="Line 20"/>
          <p:cNvSpPr/>
          <p:nvPr/>
        </p:nvSpPr>
        <p:spPr>
          <a:xfrm>
            <a:off x="8412480" y="685800"/>
            <a:ext cx="3154680" cy="4069080"/>
          </a:xfrm>
          <a:prstGeom prst="line">
            <a:avLst/>
          </a:prstGeom>
          <a:noFill/>
          <a:ln w="50800">
            <a:solidFill>
              <a:srgbClr val="1D4ED8"/>
            </a:solidFill>
          </a:ln>
        </p:spPr>
      </p:sp>
      <p:sp>
        <p:nvSpPr>
          <p:cNvPr id="21" name="Line 21"/>
          <p:cNvSpPr/>
          <p:nvPr/>
        </p:nvSpPr>
        <p:spPr>
          <a:xfrm flipV="1">
            <a:off x="8183880" y="1783080"/>
            <a:ext cx="3291840" cy="3474720"/>
          </a:xfrm>
          <a:prstGeom prst="line">
            <a:avLst/>
          </a:prstGeom>
          <a:noFill/>
          <a:ln w="38100">
            <a:solidFill>
              <a:srgbClr val="14B8A6"/>
            </a:solidFill>
          </a:ln>
        </p:spPr>
      </p:sp>
      <p:sp>
        <p:nvSpPr>
          <p:cNvPr id="8" name="Line 8"/>
          <p:cNvSpPr/>
          <p:nvPr/>
        </p:nvSpPr>
        <p:spPr>
          <a:xfrm>
            <a:off x="384048" y="6455664"/>
            <a:ext cx="11411712" cy="1"/>
          </a:xfrm>
          <a:prstGeom prst="line">
            <a:avLst/>
          </a:prstGeom>
          <a:noFill/>
          <a:ln w="10160">
            <a:solidFill>
              <a:srgbClr val="CBD5E1"/>
            </a:solidFill>
          </a:ln>
        </p:spPr>
      </p:sp>
      <p:sp>
        <p:nvSpPr>
          <p:cNvPr id="9" name="Shape 9"/>
          <p:cNvSpPr/>
          <p:nvPr/>
        </p:nvSpPr>
        <p:spPr>
          <a:xfrm>
            <a:off x="384048" y="6510528"/>
            <a:ext cx="11411712" cy="164592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7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Source: 4.3.3.2 雷达智能体子系统技术方案 · editable PowerPoint shapes</a:t>
            </a:r>
            <a:endParaRPr lang="zh-CN" sz="7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384048" y="201168"/>
            <a:ext cx="11430000" cy="219456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8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SYSTEM ARCHITECTURE</a:t>
            </a:r>
            <a:endParaRPr lang="zh-CN" sz="80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384048" y="475488"/>
            <a:ext cx="7498080" cy="493776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总体架构图</a:t>
            </a:r>
            <a:endParaRPr lang="zh-CN" sz="2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Line 5"/>
          <p:cNvSpPr/>
          <p:nvPr/>
        </p:nvSpPr>
        <p:spPr>
          <a:xfrm>
            <a:off x="384048" y="1060704"/>
            <a:ext cx="11411712" cy="1"/>
          </a:xfrm>
          <a:prstGeom prst="line">
            <a:avLst/>
          </a:prstGeom>
          <a:noFill/>
          <a:ln w="12700">
            <a:solidFill>
              <a:srgbClr val="CBD5E1"/>
            </a:solidFill>
          </a:ln>
        </p:spPr>
      </p:sp>
      <p:sp>
        <p:nvSpPr>
          <p:cNvPr id="6" name="Shape 6"/>
          <p:cNvSpPr/>
          <p:nvPr/>
        </p:nvSpPr>
        <p:spPr>
          <a:xfrm>
            <a:off x="10515600" y="475488"/>
            <a:ext cx="128016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9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02 / 09</a:t>
            </a:r>
            <a:endParaRPr lang="zh-CN" sz="90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384048" y="1115568"/>
            <a:ext cx="10881360" cy="292608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0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以雷达智能体为智能决策中枢，连接显控、感知、状态、控制执行链路和数据知识底座。</a:t>
            </a:r>
            <a:endParaRPr lang="zh-CN" sz="10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438912" y="1572768"/>
            <a:ext cx="2148840" cy="713232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1F4E79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1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显控分系统</a:t>
            </a:r>
            <a:endParaRPr lang="zh-CN" sz="11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9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自然语言 / 目标选择</a:t>
            </a:r>
            <a:endParaRPr lang="zh-CN" sz="9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9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区域选择 / 审批确认</a:t>
            </a:r>
            <a:endParaRPr lang="zh-CN" sz="9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Line 12"/>
          <p:cNvSpPr/>
          <p:nvPr/>
        </p:nvSpPr>
        <p:spPr>
          <a:xfrm>
            <a:off x="548640" y="1691640"/>
            <a:ext cx="1" cy="475488"/>
          </a:xfrm>
          <a:prstGeom prst="line">
            <a:avLst/>
          </a:prstGeom>
          <a:noFill/>
          <a:ln w="38100">
            <a:solidFill>
              <a:srgbClr val="1F4E79"/>
            </a:solidFill>
          </a:ln>
        </p:spPr>
      </p:sp>
      <p:sp>
        <p:nvSpPr>
          <p:cNvPr id="14" name="Line 14"/>
          <p:cNvSpPr/>
          <p:nvPr/>
        </p:nvSpPr>
        <p:spPr>
          <a:xfrm>
            <a:off x="2587752" y="1929384"/>
            <a:ext cx="539496" cy="978408"/>
          </a:xfrm>
          <a:prstGeom prst="line">
            <a:avLst/>
          </a:prstGeom>
          <a:noFill/>
          <a:ln w="22860">
            <a:solidFill>
              <a:srgbClr val="1F4E79"/>
            </a:solidFill>
            <a:tailEnd type="triangle"/>
          </a:ln>
        </p:spPr>
      </p:sp>
      <p:sp>
        <p:nvSpPr>
          <p:cNvPr id="15" name="Shape 15"/>
          <p:cNvSpPr/>
          <p:nvPr/>
        </p:nvSpPr>
        <p:spPr>
          <a:xfrm>
            <a:off x="438912" y="2624328"/>
            <a:ext cx="2148840" cy="713232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F766E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1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信息处理感知子系统</a:t>
            </a:r>
            <a:endParaRPr lang="zh-CN" sz="11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9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检测 / 识别 / 跟踪 / 定位</a:t>
            </a:r>
            <a:endParaRPr lang="zh-CN" sz="9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9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模型结果与置信度</a:t>
            </a:r>
            <a:endParaRPr lang="zh-CN" sz="9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Line 16"/>
          <p:cNvSpPr/>
          <p:nvPr/>
        </p:nvSpPr>
        <p:spPr>
          <a:xfrm>
            <a:off x="548640" y="2743200"/>
            <a:ext cx="1" cy="475488"/>
          </a:xfrm>
          <a:prstGeom prst="line">
            <a:avLst/>
          </a:prstGeom>
          <a:noFill/>
          <a:ln w="38100">
            <a:solidFill>
              <a:srgbClr val="0F766E"/>
            </a:solidFill>
          </a:ln>
        </p:spPr>
      </p:sp>
      <p:sp>
        <p:nvSpPr>
          <p:cNvPr id="18" name="Line 18"/>
          <p:cNvSpPr/>
          <p:nvPr/>
        </p:nvSpPr>
        <p:spPr>
          <a:xfrm flipV="1">
            <a:off x="2587752" y="2907792"/>
            <a:ext cx="539496" cy="73152"/>
          </a:xfrm>
          <a:prstGeom prst="line">
            <a:avLst/>
          </a:prstGeom>
          <a:noFill/>
          <a:ln w="22860">
            <a:solidFill>
              <a:srgbClr val="0F766E"/>
            </a:solidFill>
            <a:tailEnd type="triangle"/>
          </a:ln>
        </p:spPr>
      </p:sp>
      <p:sp>
        <p:nvSpPr>
          <p:cNvPr id="19" name="Shape 19"/>
          <p:cNvSpPr/>
          <p:nvPr/>
        </p:nvSpPr>
        <p:spPr>
          <a:xfrm>
            <a:off x="438912" y="3675888"/>
            <a:ext cx="2148840" cy="713232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2F6B3F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1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雷达状态与环境数据</a:t>
            </a:r>
            <a:endParaRPr lang="zh-CN" sz="11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9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工作模式 / 参数 / 资源</a:t>
            </a:r>
            <a:endParaRPr lang="zh-CN" sz="9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9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设备健康 / 环境条件</a:t>
            </a:r>
            <a:endParaRPr lang="zh-CN" sz="9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Line 20"/>
          <p:cNvSpPr/>
          <p:nvPr/>
        </p:nvSpPr>
        <p:spPr>
          <a:xfrm>
            <a:off x="548640" y="3794760"/>
            <a:ext cx="1" cy="475488"/>
          </a:xfrm>
          <a:prstGeom prst="line">
            <a:avLst/>
          </a:prstGeom>
          <a:noFill/>
          <a:ln w="38100">
            <a:solidFill>
              <a:srgbClr val="2F6B3F"/>
            </a:solidFill>
          </a:ln>
        </p:spPr>
      </p:sp>
      <p:sp>
        <p:nvSpPr>
          <p:cNvPr id="22" name="Line 22"/>
          <p:cNvSpPr/>
          <p:nvPr/>
        </p:nvSpPr>
        <p:spPr>
          <a:xfrm flipV="1">
            <a:off x="2587752" y="2907792"/>
            <a:ext cx="539496" cy="1124712"/>
          </a:xfrm>
          <a:prstGeom prst="line">
            <a:avLst/>
          </a:prstGeom>
          <a:noFill/>
          <a:ln w="22860">
            <a:solidFill>
              <a:srgbClr val="2F6B3F"/>
            </a:solidFill>
            <a:tailEnd type="triangle"/>
          </a:ln>
        </p:spPr>
      </p:sp>
      <p:sp>
        <p:nvSpPr>
          <p:cNvPr id="23" name="Shape 23"/>
          <p:cNvSpPr/>
          <p:nvPr/>
        </p:nvSpPr>
        <p:spPr>
          <a:xfrm>
            <a:off x="3657600" y="1417320"/>
            <a:ext cx="4709160" cy="3108960"/>
          </a:xfrm>
          <a:prstGeom prst="roundRect">
            <a:avLst/>
          </a:prstGeom>
          <a:solidFill>
            <a:srgbClr val="0B1220"/>
          </a:solidFill>
          <a:ln w="15240">
            <a:solidFill>
              <a:srgbClr val="0B1220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雷达智能体子系统</a:t>
            </a:r>
            <a:endParaRPr lang="zh-CN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Agent Harness / Safety Gate / Trace</a:t>
            </a:r>
            <a:endParaRPr 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Shape 24"/>
          <p:cNvSpPr/>
          <p:nvPr/>
        </p:nvSpPr>
        <p:spPr>
          <a:xfrm>
            <a:off x="3794760" y="1554480"/>
            <a:ext cx="44348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雷达智能体子系统</a:t>
            </a:r>
            <a:endParaRPr lang="zh-CN"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Shape 25"/>
          <p:cNvSpPr/>
          <p:nvPr/>
        </p:nvSpPr>
        <p:spPr>
          <a:xfrm>
            <a:off x="3950208" y="2057400"/>
            <a:ext cx="1298448" cy="530352"/>
          </a:xfrm>
          <a:prstGeom prst="roundRect">
            <a:avLst/>
          </a:prstGeom>
          <a:solidFill>
            <a:srgbClr val="16243C"/>
          </a:solidFill>
          <a:ln w="15240">
            <a:solidFill>
              <a:srgbClr val="44546A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认知核心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Shape 26"/>
          <p:cNvSpPr/>
          <p:nvPr/>
        </p:nvSpPr>
        <p:spPr>
          <a:xfrm>
            <a:off x="5650992" y="2057400"/>
            <a:ext cx="1298448" cy="530352"/>
          </a:xfrm>
          <a:prstGeom prst="roundRect">
            <a:avLst/>
          </a:prstGeom>
          <a:solidFill>
            <a:srgbClr val="16243C"/>
          </a:solidFill>
          <a:ln w="15240">
            <a:solidFill>
              <a:srgbClr val="44546A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记忆管理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Shape 27"/>
          <p:cNvSpPr/>
          <p:nvPr/>
        </p:nvSpPr>
        <p:spPr>
          <a:xfrm>
            <a:off x="7168896" y="2057400"/>
            <a:ext cx="1298448" cy="530352"/>
          </a:xfrm>
          <a:prstGeom prst="roundRect">
            <a:avLst/>
          </a:prstGeom>
          <a:solidFill>
            <a:srgbClr val="16243C"/>
          </a:solidFill>
          <a:ln w="15240">
            <a:solidFill>
              <a:srgbClr val="44546A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工具执行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Shape 28"/>
          <p:cNvSpPr/>
          <p:nvPr/>
        </p:nvSpPr>
        <p:spPr>
          <a:xfrm>
            <a:off x="4425950" y="3337687"/>
            <a:ext cx="1298448" cy="530352"/>
          </a:xfrm>
          <a:prstGeom prst="roundRect">
            <a:avLst/>
          </a:prstGeom>
          <a:solidFill>
            <a:srgbClr val="16243C"/>
          </a:solidFill>
          <a:ln w="15240">
            <a:solidFill>
              <a:srgbClr val="44546A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工作流引擎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Shape 29"/>
          <p:cNvSpPr/>
          <p:nvPr/>
        </p:nvSpPr>
        <p:spPr>
          <a:xfrm>
            <a:off x="6527927" y="3357372"/>
            <a:ext cx="1298448" cy="530352"/>
          </a:xfrm>
          <a:prstGeom prst="roundRect">
            <a:avLst/>
          </a:prstGeom>
          <a:solidFill>
            <a:srgbClr val="16243C"/>
          </a:solidFill>
          <a:ln w="15240">
            <a:solidFill>
              <a:srgbClr val="44546A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数据库接入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Shape 30"/>
          <p:cNvSpPr/>
          <p:nvPr/>
        </p:nvSpPr>
        <p:spPr>
          <a:xfrm>
            <a:off x="3977640" y="3977640"/>
            <a:ext cx="4069080" cy="310896"/>
          </a:xfrm>
          <a:prstGeom prst="roundRect">
            <a:avLst/>
          </a:prstGeom>
          <a:solidFill>
            <a:srgbClr val="243B64"/>
          </a:solidFill>
          <a:ln w="15240">
            <a:solidFill>
              <a:srgbClr val="243B64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900">
                <a:solidFill>
                  <a:srgbClr val="D7E7FF"/>
                </a:solidFill>
                <a:latin typeface="微软雅黑" panose="020B0503020204020204" charset="-122"/>
                <a:ea typeface="微软雅黑" panose="020B0503020204020204" charset="-122"/>
              </a:rPr>
              <a:t>贯穿治理：任务实例 · 权限校验 · 参数边界 · 追溯记录 · 经验回流</a:t>
            </a:r>
            <a:endParaRPr lang="zh-CN" sz="900">
              <a:solidFill>
                <a:srgbClr val="D7E7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Shape 31"/>
          <p:cNvSpPr/>
          <p:nvPr/>
        </p:nvSpPr>
        <p:spPr>
          <a:xfrm>
            <a:off x="9189720" y="1481328"/>
            <a:ext cx="242316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4E79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0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研判结果与证据链</a:t>
            </a:r>
            <a:endParaRPr lang="zh-CN" sz="10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8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目标类别 / 行为 / 威胁等级</a:t>
            </a:r>
            <a:endParaRPr lang="zh-CN" sz="8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Line 32"/>
          <p:cNvSpPr/>
          <p:nvPr/>
        </p:nvSpPr>
        <p:spPr>
          <a:xfrm>
            <a:off x="9299448" y="1600200"/>
            <a:ext cx="1" cy="329184"/>
          </a:xfrm>
          <a:prstGeom prst="line">
            <a:avLst/>
          </a:prstGeom>
          <a:noFill/>
          <a:ln w="38100">
            <a:solidFill>
              <a:srgbClr val="1F4E79"/>
            </a:solidFill>
          </a:ln>
        </p:spPr>
      </p:sp>
      <p:sp>
        <p:nvSpPr>
          <p:cNvPr id="34" name="Line 34"/>
          <p:cNvSpPr/>
          <p:nvPr/>
        </p:nvSpPr>
        <p:spPr>
          <a:xfrm flipV="1">
            <a:off x="8366760" y="1764792"/>
            <a:ext cx="822960" cy="1143000"/>
          </a:xfrm>
          <a:prstGeom prst="line">
            <a:avLst/>
          </a:prstGeom>
          <a:noFill/>
          <a:ln w="21590">
            <a:solidFill>
              <a:srgbClr val="1F4E79"/>
            </a:solidFill>
            <a:tailEnd type="triangle"/>
          </a:ln>
        </p:spPr>
      </p:sp>
      <p:sp>
        <p:nvSpPr>
          <p:cNvPr id="35" name="Shape 35"/>
          <p:cNvSpPr/>
          <p:nvPr/>
        </p:nvSpPr>
        <p:spPr>
          <a:xfrm>
            <a:off x="9189720" y="2322576"/>
            <a:ext cx="242316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16207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0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候选参数方案</a:t>
            </a:r>
            <a:endParaRPr lang="zh-CN" sz="10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8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波形 / 波束 / 门限 / 跟踪参数</a:t>
            </a:r>
            <a:endParaRPr lang="zh-CN" sz="8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Line 36"/>
          <p:cNvSpPr/>
          <p:nvPr/>
        </p:nvSpPr>
        <p:spPr>
          <a:xfrm>
            <a:off x="9299448" y="2441448"/>
            <a:ext cx="1" cy="329184"/>
          </a:xfrm>
          <a:prstGeom prst="line">
            <a:avLst/>
          </a:prstGeom>
          <a:noFill/>
          <a:ln w="38100">
            <a:solidFill>
              <a:srgbClr val="A16207"/>
            </a:solidFill>
          </a:ln>
        </p:spPr>
      </p:sp>
      <p:sp>
        <p:nvSpPr>
          <p:cNvPr id="38" name="Line 38"/>
          <p:cNvSpPr/>
          <p:nvPr/>
        </p:nvSpPr>
        <p:spPr>
          <a:xfrm flipV="1">
            <a:off x="8366760" y="2606040"/>
            <a:ext cx="822960" cy="301752"/>
          </a:xfrm>
          <a:prstGeom prst="line">
            <a:avLst/>
          </a:prstGeom>
          <a:noFill/>
          <a:ln w="21590">
            <a:solidFill>
              <a:srgbClr val="A16207"/>
            </a:solidFill>
            <a:tailEnd type="triangle"/>
          </a:ln>
        </p:spPr>
      </p:sp>
      <p:sp>
        <p:nvSpPr>
          <p:cNvPr id="39" name="Shape 39"/>
          <p:cNvSpPr/>
          <p:nvPr/>
        </p:nvSpPr>
        <p:spPr>
          <a:xfrm>
            <a:off x="9189720" y="3163824"/>
            <a:ext cx="242316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91C1C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0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工作流状态与审批</a:t>
            </a:r>
            <a:endParaRPr lang="zh-CN" sz="10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8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检查点 / 回滚 / 状态同步</a:t>
            </a:r>
            <a:endParaRPr lang="zh-CN" sz="8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Line 40"/>
          <p:cNvSpPr/>
          <p:nvPr/>
        </p:nvSpPr>
        <p:spPr>
          <a:xfrm>
            <a:off x="9299448" y="3282696"/>
            <a:ext cx="1" cy="329184"/>
          </a:xfrm>
          <a:prstGeom prst="line">
            <a:avLst/>
          </a:prstGeom>
          <a:noFill/>
          <a:ln w="38100">
            <a:solidFill>
              <a:srgbClr val="B91C1C"/>
            </a:solidFill>
          </a:ln>
        </p:spPr>
      </p:sp>
      <p:sp>
        <p:nvSpPr>
          <p:cNvPr id="42" name="Line 42"/>
          <p:cNvSpPr/>
          <p:nvPr/>
        </p:nvSpPr>
        <p:spPr>
          <a:xfrm>
            <a:off x="8366760" y="2907792"/>
            <a:ext cx="822960" cy="539496"/>
          </a:xfrm>
          <a:prstGeom prst="line">
            <a:avLst/>
          </a:prstGeom>
          <a:noFill/>
          <a:ln w="21590">
            <a:solidFill>
              <a:srgbClr val="B91C1C"/>
            </a:solidFill>
            <a:tailEnd type="triangle"/>
          </a:ln>
        </p:spPr>
      </p:sp>
      <p:sp>
        <p:nvSpPr>
          <p:cNvPr id="43" name="Shape 43"/>
          <p:cNvSpPr/>
          <p:nvPr/>
        </p:nvSpPr>
        <p:spPr>
          <a:xfrm>
            <a:off x="9189720" y="4005072"/>
            <a:ext cx="242316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B3F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0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复盘报告与经验资产</a:t>
            </a:r>
            <a:endParaRPr lang="zh-CN" sz="10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8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短中长期记忆与经验候选</a:t>
            </a:r>
            <a:endParaRPr lang="zh-CN" sz="8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Line 44"/>
          <p:cNvSpPr/>
          <p:nvPr/>
        </p:nvSpPr>
        <p:spPr>
          <a:xfrm>
            <a:off x="9299448" y="4123944"/>
            <a:ext cx="1" cy="329184"/>
          </a:xfrm>
          <a:prstGeom prst="line">
            <a:avLst/>
          </a:prstGeom>
          <a:noFill/>
          <a:ln w="38100">
            <a:solidFill>
              <a:srgbClr val="2F6B3F"/>
            </a:solidFill>
          </a:ln>
        </p:spPr>
      </p:sp>
      <p:sp>
        <p:nvSpPr>
          <p:cNvPr id="46" name="Line 46"/>
          <p:cNvSpPr/>
          <p:nvPr/>
        </p:nvSpPr>
        <p:spPr>
          <a:xfrm>
            <a:off x="8366760" y="2907792"/>
            <a:ext cx="822960" cy="1380744"/>
          </a:xfrm>
          <a:prstGeom prst="line">
            <a:avLst/>
          </a:prstGeom>
          <a:noFill/>
          <a:ln w="21590">
            <a:solidFill>
              <a:srgbClr val="2F6B3F"/>
            </a:solidFill>
            <a:tailEnd type="triangle"/>
          </a:ln>
        </p:spPr>
      </p:sp>
      <p:sp>
        <p:nvSpPr>
          <p:cNvPr id="47" name="Shape 47"/>
          <p:cNvSpPr/>
          <p:nvPr/>
        </p:nvSpPr>
        <p:spPr>
          <a:xfrm>
            <a:off x="4315968" y="5074920"/>
            <a:ext cx="3383280" cy="530352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2F6B3F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1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数据知识底座</a:t>
            </a:r>
            <a:endParaRPr lang="zh-CN" sz="11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9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关系库 / 向量库 / 图数据库 / 时序库</a:t>
            </a:r>
            <a:endParaRPr lang="zh-CN" sz="9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Line 48"/>
          <p:cNvSpPr/>
          <p:nvPr/>
        </p:nvSpPr>
        <p:spPr>
          <a:xfrm>
            <a:off x="4425696" y="5193792"/>
            <a:ext cx="1" cy="292608"/>
          </a:xfrm>
          <a:prstGeom prst="line">
            <a:avLst/>
          </a:prstGeom>
          <a:noFill/>
          <a:ln w="38100">
            <a:solidFill>
              <a:srgbClr val="2F6B3F"/>
            </a:solidFill>
          </a:ln>
        </p:spPr>
      </p:sp>
      <p:sp>
        <p:nvSpPr>
          <p:cNvPr id="50" name="Line 50"/>
          <p:cNvSpPr/>
          <p:nvPr/>
        </p:nvSpPr>
        <p:spPr>
          <a:xfrm>
            <a:off x="5989320" y="4526280"/>
            <a:ext cx="1" cy="548640"/>
          </a:xfrm>
          <a:prstGeom prst="line">
            <a:avLst/>
          </a:prstGeom>
          <a:noFill/>
          <a:ln w="22860">
            <a:solidFill>
              <a:srgbClr val="2F6B3F"/>
            </a:solidFill>
            <a:tailEnd type="triangle"/>
          </a:ln>
        </p:spPr>
      </p:sp>
      <p:sp>
        <p:nvSpPr>
          <p:cNvPr id="51" name="Shape 51"/>
          <p:cNvSpPr/>
          <p:nvPr/>
        </p:nvSpPr>
        <p:spPr>
          <a:xfrm>
            <a:off x="9034272" y="5010912"/>
            <a:ext cx="2615184" cy="640080"/>
          </a:xfrm>
          <a:prstGeom prst="roundRect">
            <a:avLst/>
          </a:prstGeom>
          <a:solidFill>
            <a:srgbClr val="FEE2E2"/>
          </a:solidFill>
          <a:ln w="15240">
            <a:solidFill>
              <a:srgbClr val="B91C1C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1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控制执行链路</a:t>
            </a:r>
            <a:endParaRPr lang="zh-CN" sz="11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9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真实控制下发由控制链路完成</a:t>
            </a:r>
            <a:endParaRPr lang="zh-CN" sz="9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Line 52"/>
          <p:cNvSpPr/>
          <p:nvPr/>
        </p:nvSpPr>
        <p:spPr>
          <a:xfrm>
            <a:off x="9144000" y="5129784"/>
            <a:ext cx="1" cy="402336"/>
          </a:xfrm>
          <a:prstGeom prst="line">
            <a:avLst/>
          </a:prstGeom>
          <a:noFill/>
          <a:ln w="38100">
            <a:solidFill>
              <a:srgbClr val="B91C1C"/>
            </a:solidFill>
          </a:ln>
        </p:spPr>
      </p:sp>
      <p:sp>
        <p:nvSpPr>
          <p:cNvPr id="54" name="Line 54"/>
          <p:cNvSpPr/>
          <p:nvPr/>
        </p:nvSpPr>
        <p:spPr>
          <a:xfrm>
            <a:off x="7973568" y="3822192"/>
            <a:ext cx="1060704" cy="1508760"/>
          </a:xfrm>
          <a:prstGeom prst="line">
            <a:avLst/>
          </a:prstGeom>
          <a:noFill/>
          <a:ln w="22860">
            <a:solidFill>
              <a:srgbClr val="B91C1C"/>
            </a:solidFill>
            <a:tailEnd type="triangle"/>
          </a:ln>
        </p:spPr>
      </p:sp>
      <p:sp>
        <p:nvSpPr>
          <p:cNvPr id="8" name="Line 8"/>
          <p:cNvSpPr/>
          <p:nvPr/>
        </p:nvSpPr>
        <p:spPr>
          <a:xfrm>
            <a:off x="384048" y="6455664"/>
            <a:ext cx="11411712" cy="1"/>
          </a:xfrm>
          <a:prstGeom prst="line">
            <a:avLst/>
          </a:prstGeom>
          <a:noFill/>
          <a:ln w="10160">
            <a:solidFill>
              <a:srgbClr val="CBD5E1"/>
            </a:solidFill>
          </a:ln>
        </p:spPr>
      </p:sp>
      <p:sp>
        <p:nvSpPr>
          <p:cNvPr id="9" name="Shape 9"/>
          <p:cNvSpPr/>
          <p:nvPr/>
        </p:nvSpPr>
        <p:spPr>
          <a:xfrm>
            <a:off x="384048" y="6510528"/>
            <a:ext cx="11411712" cy="164592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7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Source: 4.3.3.2 雷达智能体子系统技术方案 · editable PowerPoint shapes</a:t>
            </a:r>
            <a:endParaRPr lang="zh-CN" sz="7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384048" y="201168"/>
            <a:ext cx="11430000" cy="219456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8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FUNCTION COMPOSITION</a:t>
            </a:r>
            <a:endParaRPr lang="zh-CN" sz="80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384048" y="475488"/>
            <a:ext cx="7498080" cy="493776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功能组成图</a:t>
            </a:r>
            <a:endParaRPr lang="zh-CN" sz="2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Line 5"/>
          <p:cNvSpPr/>
          <p:nvPr/>
        </p:nvSpPr>
        <p:spPr>
          <a:xfrm>
            <a:off x="384048" y="1060704"/>
            <a:ext cx="11411712" cy="1"/>
          </a:xfrm>
          <a:prstGeom prst="line">
            <a:avLst/>
          </a:prstGeom>
          <a:noFill/>
          <a:ln w="12700">
            <a:solidFill>
              <a:srgbClr val="CBD5E1"/>
            </a:solidFill>
          </a:ln>
        </p:spPr>
      </p:sp>
      <p:sp>
        <p:nvSpPr>
          <p:cNvPr id="6" name="Shape 6"/>
          <p:cNvSpPr/>
          <p:nvPr/>
        </p:nvSpPr>
        <p:spPr>
          <a:xfrm>
            <a:off x="10515600" y="475488"/>
            <a:ext cx="128016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9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03 / 09</a:t>
            </a:r>
            <a:endParaRPr lang="zh-CN" sz="90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384048" y="1115568"/>
            <a:ext cx="10881360" cy="292608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0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五大核心功能模块支撑任务理解、智能研判、参数建议、流程执行和经验沉淀。</a:t>
            </a:r>
            <a:endParaRPr lang="zh-CN" sz="10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566928" y="1417320"/>
            <a:ext cx="11064240" cy="384048"/>
          </a:xfrm>
          <a:prstGeom prst="roundRect">
            <a:avLst/>
          </a:prstGeom>
          <a:solidFill>
            <a:srgbClr val="0B1220"/>
          </a:solidFill>
          <a:ln w="15240">
            <a:solidFill>
              <a:srgbClr val="0B1220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贯穿式运行治理：任务实例管理 / 能力包调度 / 安全门控机制 / 追溯记录 / 运行观测</a:t>
            </a:r>
            <a:endParaRPr lang="zh-CN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658368" y="2176272"/>
            <a:ext cx="3072384" cy="1078992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1F4E79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9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意图理解、任务建模、上下文组织、执行路径规划、研判结论和候选方案生成</a:t>
            </a:r>
            <a:endParaRPr lang="zh-CN" sz="9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Line 13"/>
          <p:cNvSpPr/>
          <p:nvPr/>
        </p:nvSpPr>
        <p:spPr>
          <a:xfrm>
            <a:off x="768096" y="2295144"/>
            <a:ext cx="1" cy="841248"/>
          </a:xfrm>
          <a:prstGeom prst="line">
            <a:avLst/>
          </a:prstGeom>
          <a:noFill/>
          <a:ln w="38100">
            <a:solidFill>
              <a:srgbClr val="1F4E79"/>
            </a:solidFill>
          </a:ln>
        </p:spPr>
      </p:sp>
      <p:sp>
        <p:nvSpPr>
          <p:cNvPr id="14" name="Shape 14"/>
          <p:cNvSpPr/>
          <p:nvPr/>
        </p:nvSpPr>
        <p:spPr>
          <a:xfrm>
            <a:off x="795528" y="2313432"/>
            <a:ext cx="279806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认知核心模块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Shape 15"/>
          <p:cNvSpPr/>
          <p:nvPr/>
        </p:nvSpPr>
        <p:spPr>
          <a:xfrm>
            <a:off x="4572000" y="2176272"/>
            <a:ext cx="3072384" cy="1078992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6D28D9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9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短期任务记忆、中期任务链、长期知识/案例/策略/经验与追溯回流</a:t>
            </a:r>
            <a:endParaRPr lang="zh-CN" sz="9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Line 16"/>
          <p:cNvSpPr/>
          <p:nvPr/>
        </p:nvSpPr>
        <p:spPr>
          <a:xfrm>
            <a:off x="4681728" y="2295144"/>
            <a:ext cx="1" cy="841248"/>
          </a:xfrm>
          <a:prstGeom prst="line">
            <a:avLst/>
          </a:prstGeom>
          <a:noFill/>
          <a:ln w="38100">
            <a:solidFill>
              <a:srgbClr val="6D28D9"/>
            </a:solidFill>
          </a:ln>
        </p:spPr>
      </p:sp>
      <p:sp>
        <p:nvSpPr>
          <p:cNvPr id="17" name="Shape 17"/>
          <p:cNvSpPr/>
          <p:nvPr/>
        </p:nvSpPr>
        <p:spPr>
          <a:xfrm>
            <a:off x="4709160" y="2313432"/>
            <a:ext cx="279806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记忆管理模块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Shape 18"/>
          <p:cNvSpPr/>
          <p:nvPr/>
        </p:nvSpPr>
        <p:spPr>
          <a:xfrm>
            <a:off x="8485632" y="2176272"/>
            <a:ext cx="3072384" cy="1078992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F766E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9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感知解释、数据查询、目标分析、参数仿真、控制请求适配和报告生成</a:t>
            </a:r>
            <a:endParaRPr lang="zh-CN" sz="9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Line 19"/>
          <p:cNvSpPr/>
          <p:nvPr/>
        </p:nvSpPr>
        <p:spPr>
          <a:xfrm>
            <a:off x="8595360" y="2295144"/>
            <a:ext cx="1" cy="841248"/>
          </a:xfrm>
          <a:prstGeom prst="line">
            <a:avLst/>
          </a:prstGeom>
          <a:noFill/>
          <a:ln w="38100">
            <a:solidFill>
              <a:srgbClr val="0F766E"/>
            </a:solidFill>
          </a:ln>
        </p:spPr>
      </p:sp>
      <p:sp>
        <p:nvSpPr>
          <p:cNvPr id="20" name="Shape 20"/>
          <p:cNvSpPr/>
          <p:nvPr/>
        </p:nvSpPr>
        <p:spPr>
          <a:xfrm>
            <a:off x="8622792" y="2313432"/>
            <a:ext cx="279806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工具执行模块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Shape 21"/>
          <p:cNvSpPr/>
          <p:nvPr/>
        </p:nvSpPr>
        <p:spPr>
          <a:xfrm>
            <a:off x="2487168" y="3913632"/>
            <a:ext cx="3072384" cy="1078992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A16207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9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模板编排、节点执行、审批、检查点、回滚和流程追溯</a:t>
            </a:r>
            <a:endParaRPr lang="zh-CN" sz="9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Line 22"/>
          <p:cNvSpPr/>
          <p:nvPr/>
        </p:nvSpPr>
        <p:spPr>
          <a:xfrm>
            <a:off x="2596896" y="4032504"/>
            <a:ext cx="1" cy="841248"/>
          </a:xfrm>
          <a:prstGeom prst="line">
            <a:avLst/>
          </a:prstGeom>
          <a:noFill/>
          <a:ln w="38100">
            <a:solidFill>
              <a:srgbClr val="A16207"/>
            </a:solidFill>
          </a:ln>
        </p:spPr>
      </p:sp>
      <p:sp>
        <p:nvSpPr>
          <p:cNvPr id="23" name="Shape 23"/>
          <p:cNvSpPr/>
          <p:nvPr/>
        </p:nvSpPr>
        <p:spPr>
          <a:xfrm>
            <a:off x="2624328" y="4050792"/>
            <a:ext cx="279806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工作流引擎模块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Shape 24"/>
          <p:cNvSpPr/>
          <p:nvPr/>
        </p:nvSpPr>
        <p:spPr>
          <a:xfrm>
            <a:off x="6510528" y="3913632"/>
            <a:ext cx="3072384" cy="1078992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2F6B3F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9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关系、向量、图关系、时序数据访问，检索路由、质量标识和追溯写入</a:t>
            </a:r>
            <a:endParaRPr lang="zh-CN" sz="9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Line 25"/>
          <p:cNvSpPr/>
          <p:nvPr/>
        </p:nvSpPr>
        <p:spPr>
          <a:xfrm>
            <a:off x="6620256" y="4032504"/>
            <a:ext cx="1" cy="841248"/>
          </a:xfrm>
          <a:prstGeom prst="line">
            <a:avLst/>
          </a:prstGeom>
          <a:noFill/>
          <a:ln w="38100">
            <a:solidFill>
              <a:srgbClr val="2F6B3F"/>
            </a:solidFill>
          </a:ln>
        </p:spPr>
      </p:sp>
      <p:sp>
        <p:nvSpPr>
          <p:cNvPr id="26" name="Shape 26"/>
          <p:cNvSpPr/>
          <p:nvPr/>
        </p:nvSpPr>
        <p:spPr>
          <a:xfrm>
            <a:off x="6647688" y="4050792"/>
            <a:ext cx="279806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数据库管理与接入模块</a:t>
            </a:r>
            <a:endParaRPr lang="zh-CN" sz="1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Line 27"/>
          <p:cNvSpPr/>
          <p:nvPr/>
        </p:nvSpPr>
        <p:spPr>
          <a:xfrm flipH="1" flipV="1">
            <a:off x="2194560" y="2715768"/>
            <a:ext cx="3895344" cy="731520"/>
          </a:xfrm>
          <a:prstGeom prst="line">
            <a:avLst/>
          </a:prstGeom>
          <a:noFill/>
          <a:ln w="16510">
            <a:solidFill>
              <a:srgbClr val="CBD5E1"/>
            </a:solidFill>
          </a:ln>
        </p:spPr>
      </p:sp>
      <p:sp>
        <p:nvSpPr>
          <p:cNvPr id="28" name="Line 28"/>
          <p:cNvSpPr/>
          <p:nvPr/>
        </p:nvSpPr>
        <p:spPr>
          <a:xfrm flipV="1">
            <a:off x="6089904" y="2715768"/>
            <a:ext cx="18288" cy="731520"/>
          </a:xfrm>
          <a:prstGeom prst="line">
            <a:avLst/>
          </a:prstGeom>
          <a:noFill/>
          <a:ln w="16510">
            <a:solidFill>
              <a:srgbClr val="CBD5E1"/>
            </a:solidFill>
          </a:ln>
        </p:spPr>
      </p:sp>
      <p:sp>
        <p:nvSpPr>
          <p:cNvPr id="29" name="Line 29"/>
          <p:cNvSpPr/>
          <p:nvPr/>
        </p:nvSpPr>
        <p:spPr>
          <a:xfrm flipV="1">
            <a:off x="6089904" y="2715768"/>
            <a:ext cx="3931920" cy="731520"/>
          </a:xfrm>
          <a:prstGeom prst="line">
            <a:avLst/>
          </a:prstGeom>
          <a:noFill/>
          <a:ln w="16510">
            <a:solidFill>
              <a:srgbClr val="CBD5E1"/>
            </a:solidFill>
          </a:ln>
        </p:spPr>
      </p:sp>
      <p:sp>
        <p:nvSpPr>
          <p:cNvPr id="30" name="Line 30"/>
          <p:cNvSpPr/>
          <p:nvPr/>
        </p:nvSpPr>
        <p:spPr>
          <a:xfrm flipH="1">
            <a:off x="4023360" y="3447288"/>
            <a:ext cx="2066544" cy="1005840"/>
          </a:xfrm>
          <a:prstGeom prst="line">
            <a:avLst/>
          </a:prstGeom>
          <a:noFill/>
          <a:ln w="16510">
            <a:solidFill>
              <a:srgbClr val="CBD5E1"/>
            </a:solidFill>
          </a:ln>
        </p:spPr>
      </p:sp>
      <p:sp>
        <p:nvSpPr>
          <p:cNvPr id="31" name="Line 31"/>
          <p:cNvSpPr/>
          <p:nvPr/>
        </p:nvSpPr>
        <p:spPr>
          <a:xfrm>
            <a:off x="6089904" y="3447288"/>
            <a:ext cx="1956816" cy="1005840"/>
          </a:xfrm>
          <a:prstGeom prst="line">
            <a:avLst/>
          </a:prstGeom>
          <a:noFill/>
          <a:ln w="16510">
            <a:solidFill>
              <a:srgbClr val="CBD5E1"/>
            </a:solidFill>
          </a:ln>
        </p:spPr>
      </p:sp>
      <p:sp>
        <p:nvSpPr>
          <p:cNvPr id="32" name="Shape 32"/>
          <p:cNvSpPr/>
          <p:nvPr/>
        </p:nvSpPr>
        <p:spPr>
          <a:xfrm>
            <a:off x="4892040" y="3054096"/>
            <a:ext cx="2395728" cy="786384"/>
          </a:xfrm>
          <a:prstGeom prst="roundRect">
            <a:avLst/>
          </a:prstGeom>
          <a:solidFill>
            <a:srgbClr val="0B1220"/>
          </a:solidFill>
          <a:ln w="15240">
            <a:solidFill>
              <a:srgbClr val="0B1220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统一任务实例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统一证据引用</a:t>
            </a:r>
            <a:endParaRPr lang="zh-CN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统一追溯引用</a:t>
            </a:r>
            <a:endParaRPr lang="zh-CN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Shape 33"/>
          <p:cNvSpPr/>
          <p:nvPr/>
        </p:nvSpPr>
        <p:spPr>
          <a:xfrm>
            <a:off x="749808" y="5532120"/>
            <a:ext cx="10716768" cy="457200"/>
          </a:xfrm>
          <a:prstGeom prst="roundRect">
            <a:avLst/>
          </a:prstGeom>
          <a:solidFill>
            <a:srgbClr val="EEF2F7"/>
          </a:solidFill>
          <a:ln w="15240">
            <a:solidFill>
              <a:srgbClr val="CBD5E1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2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设计要点：运行底座、安全门控和追溯记录是贯穿机制，不作为替代五大核心模块的独立业务孤岛。</a:t>
            </a:r>
            <a:endParaRPr lang="zh-CN" sz="12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Line 8"/>
          <p:cNvSpPr/>
          <p:nvPr/>
        </p:nvSpPr>
        <p:spPr>
          <a:xfrm>
            <a:off x="384048" y="6455664"/>
            <a:ext cx="11411712" cy="1"/>
          </a:xfrm>
          <a:prstGeom prst="line">
            <a:avLst/>
          </a:prstGeom>
          <a:noFill/>
          <a:ln w="10160">
            <a:solidFill>
              <a:srgbClr val="CBD5E1"/>
            </a:solidFill>
          </a:ln>
        </p:spPr>
      </p:sp>
      <p:sp>
        <p:nvSpPr>
          <p:cNvPr id="9" name="Shape 9"/>
          <p:cNvSpPr/>
          <p:nvPr/>
        </p:nvSpPr>
        <p:spPr>
          <a:xfrm>
            <a:off x="384048" y="6510528"/>
            <a:ext cx="11411712" cy="164592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7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Source: 4.3.3.2 雷达智能体子系统技术方案 · editable PowerPoint shapes</a:t>
            </a:r>
            <a:endParaRPr lang="zh-CN" sz="7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384048" y="201168"/>
            <a:ext cx="11430000" cy="219456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8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SOFTWARE LAYERING</a:t>
            </a:r>
            <a:endParaRPr lang="zh-CN" sz="80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384048" y="475488"/>
            <a:ext cx="7498080" cy="493776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软件分层架构图</a:t>
            </a:r>
            <a:endParaRPr lang="zh-CN" sz="2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Line 5"/>
          <p:cNvSpPr/>
          <p:nvPr/>
        </p:nvSpPr>
        <p:spPr>
          <a:xfrm>
            <a:off x="384048" y="1060704"/>
            <a:ext cx="11411712" cy="1"/>
          </a:xfrm>
          <a:prstGeom prst="line">
            <a:avLst/>
          </a:prstGeom>
          <a:noFill/>
          <a:ln w="12700">
            <a:solidFill>
              <a:srgbClr val="CBD5E1"/>
            </a:solidFill>
          </a:ln>
        </p:spPr>
      </p:sp>
      <p:sp>
        <p:nvSpPr>
          <p:cNvPr id="6" name="Shape 6"/>
          <p:cNvSpPr/>
          <p:nvPr/>
        </p:nvSpPr>
        <p:spPr>
          <a:xfrm>
            <a:off x="10515600" y="475488"/>
            <a:ext cx="128016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9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04 / 09</a:t>
            </a:r>
            <a:endParaRPr lang="zh-CN" sz="90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384048" y="1115568"/>
            <a:ext cx="10881360" cy="292608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0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同一套智能体能力可以从应用层、服务层、组件层和资源层四个实现视角组织。</a:t>
            </a:r>
            <a:endParaRPr lang="zh-CN" sz="10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694944" y="1463040"/>
            <a:ext cx="1417320" cy="621792"/>
          </a:xfrm>
          <a:prstGeom prst="roundRect">
            <a:avLst/>
          </a:prstGeom>
          <a:solidFill>
            <a:srgbClr val="1F4E79"/>
          </a:solidFill>
          <a:ln w="15240">
            <a:solidFill>
              <a:srgbClr val="1F4E79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应用层</a:t>
            </a:r>
            <a:endParaRPr lang="zh-CN"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2331720" y="1463040"/>
            <a:ext cx="9052560" cy="621792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1F4E79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3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态势问答 | 目标研判 | 波形参数建议 | 流程状态展示 | 复盘报告生成</a:t>
            </a:r>
            <a:endParaRPr lang="zh-CN" sz="13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Line 13"/>
          <p:cNvSpPr/>
          <p:nvPr/>
        </p:nvSpPr>
        <p:spPr>
          <a:xfrm>
            <a:off x="6080760" y="2121408"/>
            <a:ext cx="1" cy="420624"/>
          </a:xfrm>
          <a:prstGeom prst="line">
            <a:avLst/>
          </a:prstGeom>
          <a:noFill/>
          <a:ln w="22860">
            <a:solidFill>
              <a:srgbClr val="1F4E79"/>
            </a:solidFill>
            <a:tailEnd type="triangle"/>
          </a:ln>
        </p:spPr>
      </p:sp>
      <p:sp>
        <p:nvSpPr>
          <p:cNvPr id="14" name="Shape 14"/>
          <p:cNvSpPr/>
          <p:nvPr/>
        </p:nvSpPr>
        <p:spPr>
          <a:xfrm>
            <a:off x="694944" y="2578608"/>
            <a:ext cx="1417320" cy="621792"/>
          </a:xfrm>
          <a:prstGeom prst="roundRect">
            <a:avLst/>
          </a:prstGeom>
          <a:solidFill>
            <a:srgbClr val="6D28D9"/>
          </a:solidFill>
          <a:ln w="15240">
            <a:solidFill>
              <a:srgbClr val="6D28D9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服务层</a:t>
            </a:r>
            <a:endParaRPr lang="zh-CN"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Shape 15"/>
          <p:cNvSpPr/>
          <p:nvPr/>
        </p:nvSpPr>
        <p:spPr>
          <a:xfrm>
            <a:off x="2331720" y="2578608"/>
            <a:ext cx="9052560" cy="621792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6D28D9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3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任务运行管理 | 认知推理 | 工作流编排 | 记忆管理 | 安全门控 | 追溯记录</a:t>
            </a:r>
            <a:endParaRPr lang="zh-CN" sz="13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Line 16"/>
          <p:cNvSpPr/>
          <p:nvPr/>
        </p:nvSpPr>
        <p:spPr>
          <a:xfrm>
            <a:off x="6080760" y="3236976"/>
            <a:ext cx="1" cy="420624"/>
          </a:xfrm>
          <a:prstGeom prst="line">
            <a:avLst/>
          </a:prstGeom>
          <a:noFill/>
          <a:ln w="22860">
            <a:solidFill>
              <a:srgbClr val="6D28D9"/>
            </a:solidFill>
            <a:tailEnd type="triangle"/>
          </a:ln>
        </p:spPr>
      </p:sp>
      <p:sp>
        <p:nvSpPr>
          <p:cNvPr id="17" name="Shape 17"/>
          <p:cNvSpPr/>
          <p:nvPr/>
        </p:nvSpPr>
        <p:spPr>
          <a:xfrm>
            <a:off x="694944" y="3694176"/>
            <a:ext cx="1417320" cy="621792"/>
          </a:xfrm>
          <a:prstGeom prst="roundRect">
            <a:avLst/>
          </a:prstGeom>
          <a:solidFill>
            <a:srgbClr val="0F766E"/>
          </a:solidFill>
          <a:ln w="15240">
            <a:solidFill>
              <a:srgbClr val="0F766E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组件层</a:t>
            </a:r>
            <a:endParaRPr lang="zh-CN"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Shape 18"/>
          <p:cNvSpPr/>
          <p:nvPr/>
        </p:nvSpPr>
        <p:spPr>
          <a:xfrm>
            <a:off x="2331720" y="3694176"/>
            <a:ext cx="9052560" cy="621792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F766E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3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大语言模型推理引擎 | 雷达专业能力包 | 工具执行适配 | 数据库访问适配 | 语义检索 | 图关系与时序查询</a:t>
            </a:r>
            <a:endParaRPr lang="zh-CN" sz="13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Line 19"/>
          <p:cNvSpPr/>
          <p:nvPr/>
        </p:nvSpPr>
        <p:spPr>
          <a:xfrm>
            <a:off x="6080760" y="4352544"/>
            <a:ext cx="1" cy="420624"/>
          </a:xfrm>
          <a:prstGeom prst="line">
            <a:avLst/>
          </a:prstGeom>
          <a:noFill/>
          <a:ln w="22860">
            <a:solidFill>
              <a:srgbClr val="0F766E"/>
            </a:solidFill>
            <a:tailEnd type="triangle"/>
          </a:ln>
        </p:spPr>
      </p:sp>
      <p:sp>
        <p:nvSpPr>
          <p:cNvPr id="20" name="Shape 20"/>
          <p:cNvSpPr/>
          <p:nvPr/>
        </p:nvSpPr>
        <p:spPr>
          <a:xfrm>
            <a:off x="694944" y="4809744"/>
            <a:ext cx="1417320" cy="621792"/>
          </a:xfrm>
          <a:prstGeom prst="roundRect">
            <a:avLst/>
          </a:prstGeom>
          <a:solidFill>
            <a:srgbClr val="2F6B3F"/>
          </a:solidFill>
          <a:ln w="15240">
            <a:solidFill>
              <a:srgbClr val="2F6B3F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资源层</a:t>
            </a:r>
            <a:endParaRPr lang="zh-CN"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Shape 21"/>
          <p:cNvSpPr/>
          <p:nvPr/>
        </p:nvSpPr>
        <p:spPr>
          <a:xfrm>
            <a:off x="2331720" y="4809744"/>
            <a:ext cx="9052560" cy="621792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2F6B3F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3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模型算力 | 关系/向量/图/时序数据 | 感知结果 | 雷达状态 | 控制执行接口 | 雷达知识与历史案例</a:t>
            </a:r>
            <a:endParaRPr lang="zh-CN" sz="13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Shape 22"/>
          <p:cNvSpPr/>
          <p:nvPr/>
        </p:nvSpPr>
        <p:spPr>
          <a:xfrm>
            <a:off x="777240" y="5998464"/>
            <a:ext cx="105613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0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映射关系：认知核心主要承接应用层和服务层；记忆、工具、工作流位于服务层/组件层；数据库接入连接组件层和资源层。</a:t>
            </a:r>
            <a:endParaRPr lang="zh-CN" sz="10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Line 8"/>
          <p:cNvSpPr/>
          <p:nvPr/>
        </p:nvSpPr>
        <p:spPr>
          <a:xfrm>
            <a:off x="384048" y="6455664"/>
            <a:ext cx="11411712" cy="1"/>
          </a:xfrm>
          <a:prstGeom prst="line">
            <a:avLst/>
          </a:prstGeom>
          <a:noFill/>
          <a:ln w="10160">
            <a:solidFill>
              <a:srgbClr val="CBD5E1"/>
            </a:solidFill>
          </a:ln>
        </p:spPr>
      </p:sp>
      <p:sp>
        <p:nvSpPr>
          <p:cNvPr id="9" name="Shape 9"/>
          <p:cNvSpPr/>
          <p:nvPr/>
        </p:nvSpPr>
        <p:spPr>
          <a:xfrm>
            <a:off x="384048" y="6510528"/>
            <a:ext cx="11411712" cy="164592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7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Source: 4.3.3.2 雷达智能体子系统技术方案 · editable PowerPoint shapes</a:t>
            </a:r>
            <a:endParaRPr lang="zh-CN" sz="7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384048" y="201168"/>
            <a:ext cx="11430000" cy="219456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8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TASK EXECUTION FLOW</a:t>
            </a:r>
            <a:endParaRPr lang="zh-CN" sz="80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384048" y="475488"/>
            <a:ext cx="7498080" cy="493776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系统执行信息流程图</a:t>
            </a:r>
            <a:endParaRPr lang="zh-CN" sz="2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Line 5"/>
          <p:cNvSpPr/>
          <p:nvPr/>
        </p:nvSpPr>
        <p:spPr>
          <a:xfrm>
            <a:off x="384048" y="1060704"/>
            <a:ext cx="11411712" cy="1"/>
          </a:xfrm>
          <a:prstGeom prst="line">
            <a:avLst/>
          </a:prstGeom>
          <a:noFill/>
          <a:ln w="12700">
            <a:solidFill>
              <a:srgbClr val="CBD5E1"/>
            </a:solidFill>
          </a:ln>
        </p:spPr>
      </p:sp>
      <p:sp>
        <p:nvSpPr>
          <p:cNvPr id="6" name="Shape 6"/>
          <p:cNvSpPr/>
          <p:nvPr/>
        </p:nvSpPr>
        <p:spPr>
          <a:xfrm>
            <a:off x="10515600" y="475488"/>
            <a:ext cx="128016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9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05 / 09</a:t>
            </a:r>
            <a:endParaRPr lang="zh-CN" sz="90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384048" y="1115568"/>
            <a:ext cx="10881360" cy="292608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0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任务实例贯穿显控请求、感知事件、上下文、推理、工具、工作流、追溯和记忆回流。</a:t>
            </a:r>
            <a:endParaRPr lang="zh-CN" sz="10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502920" y="2103120"/>
            <a:ext cx="1207008" cy="7863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4E79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0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任务触发</a:t>
            </a:r>
            <a:endParaRPr lang="zh-CN" sz="10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8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显控请求</a:t>
            </a:r>
            <a:endParaRPr lang="zh-CN" sz="8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8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感知事件</a:t>
            </a:r>
            <a:endParaRPr lang="zh-CN" sz="8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8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状态告警</a:t>
            </a:r>
            <a:endParaRPr lang="zh-CN" sz="8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Line 12"/>
          <p:cNvSpPr/>
          <p:nvPr/>
        </p:nvSpPr>
        <p:spPr>
          <a:xfrm>
            <a:off x="612648" y="2221992"/>
            <a:ext cx="1" cy="548640"/>
          </a:xfrm>
          <a:prstGeom prst="line">
            <a:avLst/>
          </a:prstGeom>
          <a:noFill/>
          <a:ln w="38100">
            <a:solidFill>
              <a:srgbClr val="1F4E79"/>
            </a:solidFill>
          </a:ln>
        </p:spPr>
      </p:sp>
      <p:sp>
        <p:nvSpPr>
          <p:cNvPr id="13" name="Shape 13"/>
          <p:cNvSpPr/>
          <p:nvPr/>
        </p:nvSpPr>
        <p:spPr>
          <a:xfrm>
            <a:off x="640080" y="2240280"/>
            <a:ext cx="93268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endParaRPr lang="zh-CN" sz="10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Line 14"/>
          <p:cNvSpPr/>
          <p:nvPr/>
        </p:nvSpPr>
        <p:spPr>
          <a:xfrm>
            <a:off x="1709928" y="2496312"/>
            <a:ext cx="438912" cy="1051560"/>
          </a:xfrm>
          <a:prstGeom prst="line">
            <a:avLst/>
          </a:prstGeom>
          <a:noFill/>
          <a:ln w="20320">
            <a:solidFill>
              <a:srgbClr val="1F4E79"/>
            </a:solidFill>
            <a:tailEnd type="triangle"/>
          </a:ln>
        </p:spPr>
      </p:sp>
      <p:sp>
        <p:nvSpPr>
          <p:cNvPr id="15" name="Shape 15"/>
          <p:cNvSpPr/>
          <p:nvPr/>
        </p:nvSpPr>
        <p:spPr>
          <a:xfrm>
            <a:off x="2148840" y="3154680"/>
            <a:ext cx="1207008" cy="7863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4E79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0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创建任务实例</a:t>
            </a:r>
            <a:endParaRPr lang="zh-CN" sz="10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8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任务编号</a:t>
            </a:r>
            <a:endParaRPr lang="zh-CN" sz="8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8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对象引用</a:t>
            </a:r>
            <a:endParaRPr lang="zh-CN" sz="8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8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风险等级</a:t>
            </a:r>
            <a:endParaRPr lang="zh-CN" sz="8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Line 16"/>
          <p:cNvSpPr/>
          <p:nvPr/>
        </p:nvSpPr>
        <p:spPr>
          <a:xfrm>
            <a:off x="2258568" y="3273552"/>
            <a:ext cx="1" cy="548640"/>
          </a:xfrm>
          <a:prstGeom prst="line">
            <a:avLst/>
          </a:prstGeom>
          <a:noFill/>
          <a:ln w="38100">
            <a:solidFill>
              <a:srgbClr val="1F4E79"/>
            </a:solidFill>
          </a:ln>
        </p:spPr>
      </p:sp>
      <p:sp>
        <p:nvSpPr>
          <p:cNvPr id="17" name="Shape 17"/>
          <p:cNvSpPr/>
          <p:nvPr/>
        </p:nvSpPr>
        <p:spPr>
          <a:xfrm>
            <a:off x="2286000" y="3291840"/>
            <a:ext cx="93268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endParaRPr lang="zh-CN" sz="10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Line 18"/>
          <p:cNvSpPr/>
          <p:nvPr/>
        </p:nvSpPr>
        <p:spPr>
          <a:xfrm flipV="1">
            <a:off x="3355848" y="2496312"/>
            <a:ext cx="438912" cy="1051560"/>
          </a:xfrm>
          <a:prstGeom prst="line">
            <a:avLst/>
          </a:prstGeom>
          <a:noFill/>
          <a:ln w="20320">
            <a:solidFill>
              <a:srgbClr val="1F4E79"/>
            </a:solidFill>
            <a:tailEnd type="triangle"/>
          </a:ln>
        </p:spPr>
      </p:sp>
      <p:sp>
        <p:nvSpPr>
          <p:cNvPr id="19" name="Shape 19"/>
          <p:cNvSpPr/>
          <p:nvPr/>
        </p:nvSpPr>
        <p:spPr>
          <a:xfrm>
            <a:off x="3794760" y="2103120"/>
            <a:ext cx="1207008" cy="7863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28D9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0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上下文装载</a:t>
            </a:r>
            <a:endParaRPr lang="zh-CN" sz="10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8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感知证据</a:t>
            </a:r>
            <a:endParaRPr lang="zh-CN" sz="8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8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雷达状态</a:t>
            </a:r>
            <a:endParaRPr lang="zh-CN" sz="8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8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历史引用</a:t>
            </a:r>
            <a:endParaRPr lang="zh-CN" sz="8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Line 20"/>
          <p:cNvSpPr/>
          <p:nvPr/>
        </p:nvSpPr>
        <p:spPr>
          <a:xfrm>
            <a:off x="3904488" y="2221992"/>
            <a:ext cx="1" cy="548640"/>
          </a:xfrm>
          <a:prstGeom prst="line">
            <a:avLst/>
          </a:prstGeom>
          <a:noFill/>
          <a:ln w="38100">
            <a:solidFill>
              <a:srgbClr val="6D28D9"/>
            </a:solidFill>
          </a:ln>
        </p:spPr>
      </p:sp>
      <p:sp>
        <p:nvSpPr>
          <p:cNvPr id="21" name="Shape 21"/>
          <p:cNvSpPr/>
          <p:nvPr/>
        </p:nvSpPr>
        <p:spPr>
          <a:xfrm>
            <a:off x="3931920" y="2240280"/>
            <a:ext cx="93268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endParaRPr lang="zh-CN" sz="10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Line 22"/>
          <p:cNvSpPr/>
          <p:nvPr/>
        </p:nvSpPr>
        <p:spPr>
          <a:xfrm>
            <a:off x="5001768" y="2496312"/>
            <a:ext cx="438912" cy="1051560"/>
          </a:xfrm>
          <a:prstGeom prst="line">
            <a:avLst/>
          </a:prstGeom>
          <a:noFill/>
          <a:ln w="20320">
            <a:solidFill>
              <a:srgbClr val="1F4E79"/>
            </a:solidFill>
            <a:tailEnd type="triangle"/>
          </a:ln>
        </p:spPr>
      </p:sp>
      <p:sp>
        <p:nvSpPr>
          <p:cNvPr id="23" name="Shape 23"/>
          <p:cNvSpPr/>
          <p:nvPr/>
        </p:nvSpPr>
        <p:spPr>
          <a:xfrm>
            <a:off x="5440680" y="3154680"/>
            <a:ext cx="1207008" cy="7863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28D9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0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意图理解</a:t>
            </a:r>
            <a:endParaRPr lang="zh-CN" sz="10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8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任务目标</a:t>
            </a:r>
            <a:endParaRPr lang="zh-CN" sz="8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8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约束条件</a:t>
            </a:r>
            <a:endParaRPr lang="zh-CN" sz="8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8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输出要求</a:t>
            </a:r>
            <a:endParaRPr lang="zh-CN" sz="8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Line 24"/>
          <p:cNvSpPr/>
          <p:nvPr/>
        </p:nvSpPr>
        <p:spPr>
          <a:xfrm>
            <a:off x="5550408" y="3273552"/>
            <a:ext cx="1" cy="548640"/>
          </a:xfrm>
          <a:prstGeom prst="line">
            <a:avLst/>
          </a:prstGeom>
          <a:noFill/>
          <a:ln w="38100">
            <a:solidFill>
              <a:srgbClr val="6D28D9"/>
            </a:solidFill>
          </a:ln>
        </p:spPr>
      </p:sp>
      <p:sp>
        <p:nvSpPr>
          <p:cNvPr id="25" name="Shape 25"/>
          <p:cNvSpPr/>
          <p:nvPr/>
        </p:nvSpPr>
        <p:spPr>
          <a:xfrm>
            <a:off x="5577840" y="3291840"/>
            <a:ext cx="93268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endParaRPr lang="zh-CN" sz="10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Line 26"/>
          <p:cNvSpPr/>
          <p:nvPr/>
        </p:nvSpPr>
        <p:spPr>
          <a:xfrm flipV="1">
            <a:off x="6647688" y="2496312"/>
            <a:ext cx="438912" cy="1051560"/>
          </a:xfrm>
          <a:prstGeom prst="line">
            <a:avLst/>
          </a:prstGeom>
          <a:noFill/>
          <a:ln w="20320">
            <a:solidFill>
              <a:srgbClr val="1F4E79"/>
            </a:solidFill>
            <a:tailEnd type="triangle"/>
          </a:ln>
        </p:spPr>
      </p:sp>
      <p:sp>
        <p:nvSpPr>
          <p:cNvPr id="27" name="Shape 27"/>
          <p:cNvSpPr/>
          <p:nvPr/>
        </p:nvSpPr>
        <p:spPr>
          <a:xfrm>
            <a:off x="7086600" y="2103120"/>
            <a:ext cx="1207008" cy="7863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16207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0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路径选择</a:t>
            </a:r>
            <a:endParaRPr lang="zh-CN" sz="10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8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能力包</a:t>
            </a:r>
            <a:endParaRPr lang="zh-CN" sz="8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8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工具清单</a:t>
            </a:r>
            <a:endParaRPr lang="zh-CN" sz="8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8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风险分级</a:t>
            </a:r>
            <a:endParaRPr lang="zh-CN" sz="8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Line 28"/>
          <p:cNvSpPr/>
          <p:nvPr/>
        </p:nvSpPr>
        <p:spPr>
          <a:xfrm>
            <a:off x="7196328" y="2221992"/>
            <a:ext cx="1" cy="548640"/>
          </a:xfrm>
          <a:prstGeom prst="line">
            <a:avLst/>
          </a:prstGeom>
          <a:noFill/>
          <a:ln w="38100">
            <a:solidFill>
              <a:srgbClr val="A16207"/>
            </a:solidFill>
          </a:ln>
        </p:spPr>
      </p:sp>
      <p:sp>
        <p:nvSpPr>
          <p:cNvPr id="29" name="Shape 29"/>
          <p:cNvSpPr/>
          <p:nvPr/>
        </p:nvSpPr>
        <p:spPr>
          <a:xfrm>
            <a:off x="7223760" y="2240280"/>
            <a:ext cx="93268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endParaRPr lang="zh-CN" sz="10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Line 30"/>
          <p:cNvSpPr/>
          <p:nvPr/>
        </p:nvSpPr>
        <p:spPr>
          <a:xfrm>
            <a:off x="8293608" y="2496312"/>
            <a:ext cx="987552" cy="1051560"/>
          </a:xfrm>
          <a:prstGeom prst="line">
            <a:avLst/>
          </a:prstGeom>
          <a:noFill/>
          <a:ln w="20320">
            <a:solidFill>
              <a:srgbClr val="1F4E79"/>
            </a:solidFill>
            <a:tailEnd type="triangle"/>
          </a:ln>
        </p:spPr>
      </p:sp>
      <p:sp>
        <p:nvSpPr>
          <p:cNvPr id="31" name="Shape 31"/>
          <p:cNvSpPr/>
          <p:nvPr/>
        </p:nvSpPr>
        <p:spPr>
          <a:xfrm>
            <a:off x="9281160" y="3154680"/>
            <a:ext cx="1207008" cy="7863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B3F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0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结果发布</a:t>
            </a:r>
            <a:endParaRPr lang="zh-CN" sz="10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8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研判摘要</a:t>
            </a:r>
            <a:endParaRPr lang="zh-CN" sz="8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8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证据链</a:t>
            </a:r>
            <a:endParaRPr lang="zh-CN" sz="8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8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流程状态</a:t>
            </a:r>
            <a:endParaRPr lang="zh-CN" sz="8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Line 32"/>
          <p:cNvSpPr/>
          <p:nvPr/>
        </p:nvSpPr>
        <p:spPr>
          <a:xfrm>
            <a:off x="9390888" y="3273552"/>
            <a:ext cx="1" cy="548640"/>
          </a:xfrm>
          <a:prstGeom prst="line">
            <a:avLst/>
          </a:prstGeom>
          <a:noFill/>
          <a:ln w="38100">
            <a:solidFill>
              <a:srgbClr val="2F6B3F"/>
            </a:solidFill>
          </a:ln>
        </p:spPr>
      </p:sp>
      <p:sp>
        <p:nvSpPr>
          <p:cNvPr id="33" name="Shape 33"/>
          <p:cNvSpPr/>
          <p:nvPr/>
        </p:nvSpPr>
        <p:spPr>
          <a:xfrm>
            <a:off x="9418320" y="3291840"/>
            <a:ext cx="93268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endParaRPr lang="zh-CN" sz="10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Line 34"/>
          <p:cNvSpPr/>
          <p:nvPr/>
        </p:nvSpPr>
        <p:spPr>
          <a:xfrm flipV="1">
            <a:off x="10488168" y="2496312"/>
            <a:ext cx="256032" cy="1051560"/>
          </a:xfrm>
          <a:prstGeom prst="line">
            <a:avLst/>
          </a:prstGeom>
          <a:noFill/>
          <a:ln w="20320">
            <a:solidFill>
              <a:srgbClr val="1F4E79"/>
            </a:solidFill>
            <a:tailEnd type="triangle"/>
          </a:ln>
        </p:spPr>
      </p:sp>
      <p:sp>
        <p:nvSpPr>
          <p:cNvPr id="35" name="Shape 35"/>
          <p:cNvSpPr/>
          <p:nvPr/>
        </p:nvSpPr>
        <p:spPr>
          <a:xfrm>
            <a:off x="10744200" y="2103120"/>
            <a:ext cx="1207008" cy="7863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F6B3F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0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追溯记忆</a:t>
            </a:r>
            <a:endParaRPr lang="zh-CN" sz="10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8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上下文快照</a:t>
            </a:r>
            <a:endParaRPr lang="zh-CN" sz="8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8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工具/审批</a:t>
            </a:r>
            <a:endParaRPr lang="zh-CN" sz="8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8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经验候选</a:t>
            </a:r>
            <a:endParaRPr lang="zh-CN" sz="8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Line 36"/>
          <p:cNvSpPr/>
          <p:nvPr/>
        </p:nvSpPr>
        <p:spPr>
          <a:xfrm>
            <a:off x="10853928" y="2221992"/>
            <a:ext cx="1" cy="548640"/>
          </a:xfrm>
          <a:prstGeom prst="line">
            <a:avLst/>
          </a:prstGeom>
          <a:noFill/>
          <a:ln w="38100">
            <a:solidFill>
              <a:srgbClr val="2F6B3F"/>
            </a:solidFill>
          </a:ln>
        </p:spPr>
      </p:sp>
      <p:sp>
        <p:nvSpPr>
          <p:cNvPr id="37" name="Shape 37"/>
          <p:cNvSpPr/>
          <p:nvPr/>
        </p:nvSpPr>
        <p:spPr>
          <a:xfrm>
            <a:off x="10881360" y="2221865"/>
            <a:ext cx="93268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endParaRPr lang="zh-CN" sz="10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Shape 38"/>
          <p:cNvSpPr/>
          <p:nvPr/>
        </p:nvSpPr>
        <p:spPr>
          <a:xfrm>
            <a:off x="7543800" y="3931793"/>
            <a:ext cx="1874520" cy="621792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F766E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低风险路径</a:t>
            </a:r>
            <a:endParaRPr lang="zh-CN"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1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ReAct 工具调用</a:t>
            </a:r>
            <a:endParaRPr lang="zh-CN" sz="11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Shape 39"/>
          <p:cNvSpPr/>
          <p:nvPr/>
        </p:nvSpPr>
        <p:spPr>
          <a:xfrm>
            <a:off x="6903720" y="5321808"/>
            <a:ext cx="1874520" cy="621792"/>
          </a:xfrm>
          <a:prstGeom prst="roundRect">
            <a:avLst/>
          </a:prstGeom>
          <a:solidFill>
            <a:srgbClr val="FEE2E2"/>
          </a:solidFill>
          <a:ln w="15240">
            <a:solidFill>
              <a:srgbClr val="B91C1C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高风险路径</a:t>
            </a:r>
            <a:endParaRPr lang="zh-CN"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1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受控工作流编排</a:t>
            </a:r>
            <a:endParaRPr lang="zh-CN" sz="11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Line 40"/>
          <p:cNvSpPr/>
          <p:nvPr/>
        </p:nvSpPr>
        <p:spPr>
          <a:xfrm>
            <a:off x="7982585" y="2887345"/>
            <a:ext cx="412115" cy="1083310"/>
          </a:xfrm>
          <a:prstGeom prst="line">
            <a:avLst/>
          </a:prstGeom>
          <a:noFill/>
          <a:ln w="17780">
            <a:solidFill>
              <a:srgbClr val="0F766E"/>
            </a:solidFill>
            <a:tailEnd type="triangle"/>
          </a:ln>
        </p:spPr>
      </p:sp>
      <p:sp>
        <p:nvSpPr>
          <p:cNvPr id="41" name="Line 41"/>
          <p:cNvSpPr/>
          <p:nvPr/>
        </p:nvSpPr>
        <p:spPr>
          <a:xfrm>
            <a:off x="7463790" y="2882900"/>
            <a:ext cx="129540" cy="2439035"/>
          </a:xfrm>
          <a:prstGeom prst="line">
            <a:avLst/>
          </a:prstGeom>
          <a:noFill/>
          <a:ln w="17780">
            <a:solidFill>
              <a:srgbClr val="B91C1C"/>
            </a:solidFill>
            <a:tailEnd type="triangle"/>
          </a:ln>
        </p:spPr>
      </p:sp>
      <p:sp>
        <p:nvSpPr>
          <p:cNvPr id="42" name="Shape 42"/>
          <p:cNvSpPr/>
          <p:nvPr/>
        </p:nvSpPr>
        <p:spPr>
          <a:xfrm>
            <a:off x="731520" y="4892040"/>
            <a:ext cx="5257800" cy="713232"/>
          </a:xfrm>
          <a:prstGeom prst="roundRect">
            <a:avLst/>
          </a:prstGeom>
          <a:solidFill>
            <a:srgbClr val="EEF2F7"/>
          </a:solidFill>
          <a:ln w="15240">
            <a:solidFill>
              <a:srgbClr val="CBD5E1"/>
            </a:solidFill>
          </a:ln>
        </p:spPr>
        <p:txBody>
          <a:bodyPr wrap="square" lIns="91440" tIns="50292" rIns="91440" bIns="50292" anchor="ctr"/>
          <a:lstStyle/>
          <a:p>
            <a:pPr algn="l"/>
            <a:r>
              <a:rPr lang="zh-CN" sz="12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核心分流规则：目标解释、异常归因、报告生成等只读任务可动态调用工具；波形参数设置、工作模式切换、回滚恢复进入工作流模板。</a:t>
            </a:r>
            <a:endParaRPr lang="zh-CN" sz="12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Line 8"/>
          <p:cNvSpPr/>
          <p:nvPr/>
        </p:nvSpPr>
        <p:spPr>
          <a:xfrm>
            <a:off x="384048" y="6455664"/>
            <a:ext cx="11411712" cy="1"/>
          </a:xfrm>
          <a:prstGeom prst="line">
            <a:avLst/>
          </a:prstGeom>
          <a:noFill/>
          <a:ln w="10160">
            <a:solidFill>
              <a:srgbClr val="CBD5E1"/>
            </a:solidFill>
          </a:ln>
        </p:spPr>
      </p:sp>
      <p:sp>
        <p:nvSpPr>
          <p:cNvPr id="9" name="Shape 9"/>
          <p:cNvSpPr/>
          <p:nvPr/>
        </p:nvSpPr>
        <p:spPr>
          <a:xfrm>
            <a:off x="384048" y="6510528"/>
            <a:ext cx="11411712" cy="164592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7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Source: 4.3.3.2 雷达智能体子系统技术方案 · editable PowerPoint shapes</a:t>
            </a:r>
            <a:endParaRPr lang="zh-CN" sz="7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384048" y="201168"/>
            <a:ext cx="11430000" cy="219456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8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CONTROLLED WAVEFORM WORKFLOW</a:t>
            </a:r>
            <a:endParaRPr lang="zh-CN" sz="80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384048" y="475488"/>
            <a:ext cx="7498080" cy="493776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波形参数设置受控流程图</a:t>
            </a:r>
            <a:endParaRPr lang="zh-CN" sz="2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Line 5"/>
          <p:cNvSpPr/>
          <p:nvPr/>
        </p:nvSpPr>
        <p:spPr>
          <a:xfrm>
            <a:off x="384048" y="1060704"/>
            <a:ext cx="11411712" cy="1"/>
          </a:xfrm>
          <a:prstGeom prst="line">
            <a:avLst/>
          </a:prstGeom>
          <a:noFill/>
          <a:ln w="12700">
            <a:solidFill>
              <a:srgbClr val="CBD5E1"/>
            </a:solidFill>
          </a:ln>
        </p:spPr>
      </p:sp>
      <p:sp>
        <p:nvSpPr>
          <p:cNvPr id="6" name="Shape 6"/>
          <p:cNvSpPr/>
          <p:nvPr/>
        </p:nvSpPr>
        <p:spPr>
          <a:xfrm>
            <a:off x="10515600" y="475488"/>
            <a:ext cx="128016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9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06 / 09</a:t>
            </a:r>
            <a:endParaRPr lang="zh-CN" sz="90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384048" y="1115568"/>
            <a:ext cx="10881360" cy="292608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0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候选参数方案不直接下发，需经过校验、仿真、审批、控制请求适配、状态跟踪和回滚检查点。</a:t>
            </a:r>
            <a:endParaRPr lang="zh-CN" sz="10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658368" y="1645920"/>
            <a:ext cx="2971800" cy="96012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1F4E79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1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1. 候选方案生成</a:t>
            </a:r>
            <a:endParaRPr lang="zh-CN" sz="11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9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任务目标、目标状态、资源约束、历史效果</a:t>
            </a:r>
            <a:endParaRPr lang="zh-CN" sz="9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Line 12"/>
          <p:cNvSpPr/>
          <p:nvPr/>
        </p:nvSpPr>
        <p:spPr>
          <a:xfrm>
            <a:off x="768096" y="1764792"/>
            <a:ext cx="1" cy="722376"/>
          </a:xfrm>
          <a:prstGeom prst="line">
            <a:avLst/>
          </a:prstGeom>
          <a:noFill/>
          <a:ln w="38100">
            <a:solidFill>
              <a:srgbClr val="1F4E79"/>
            </a:solidFill>
          </a:ln>
        </p:spPr>
      </p:sp>
      <p:sp>
        <p:nvSpPr>
          <p:cNvPr id="13" name="Shape 13"/>
          <p:cNvSpPr/>
          <p:nvPr/>
        </p:nvSpPr>
        <p:spPr>
          <a:xfrm>
            <a:off x="795528" y="1783080"/>
            <a:ext cx="2697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2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1. 候选方案生成</a:t>
            </a:r>
            <a:endParaRPr lang="zh-CN" sz="12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Line 14"/>
          <p:cNvSpPr/>
          <p:nvPr/>
        </p:nvSpPr>
        <p:spPr>
          <a:xfrm>
            <a:off x="3630168" y="2130552"/>
            <a:ext cx="822960" cy="1"/>
          </a:xfrm>
          <a:prstGeom prst="line">
            <a:avLst/>
          </a:prstGeom>
          <a:noFill/>
          <a:ln w="22860">
            <a:solidFill>
              <a:srgbClr val="1F4E79"/>
            </a:solidFill>
            <a:tailEnd type="triangle"/>
          </a:ln>
        </p:spPr>
      </p:sp>
      <p:sp>
        <p:nvSpPr>
          <p:cNvPr id="15" name="Shape 15"/>
          <p:cNvSpPr/>
          <p:nvPr/>
        </p:nvSpPr>
        <p:spPr>
          <a:xfrm>
            <a:off x="4453128" y="1645920"/>
            <a:ext cx="2971800" cy="96012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A16207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1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2. 参数边界校验</a:t>
            </a:r>
            <a:endParaRPr lang="zh-CN" sz="11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9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频段、功率、波束、门限、跟踪参数</a:t>
            </a:r>
            <a:endParaRPr lang="zh-CN" sz="9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Line 16"/>
          <p:cNvSpPr/>
          <p:nvPr/>
        </p:nvSpPr>
        <p:spPr>
          <a:xfrm>
            <a:off x="4562856" y="1764792"/>
            <a:ext cx="1" cy="722376"/>
          </a:xfrm>
          <a:prstGeom prst="line">
            <a:avLst/>
          </a:prstGeom>
          <a:noFill/>
          <a:ln w="38100">
            <a:solidFill>
              <a:srgbClr val="A16207"/>
            </a:solidFill>
          </a:ln>
        </p:spPr>
      </p:sp>
      <p:sp>
        <p:nvSpPr>
          <p:cNvPr id="17" name="Shape 17"/>
          <p:cNvSpPr/>
          <p:nvPr/>
        </p:nvSpPr>
        <p:spPr>
          <a:xfrm>
            <a:off x="4590288" y="1783080"/>
            <a:ext cx="2697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2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2. 参数边界校验</a:t>
            </a:r>
            <a:endParaRPr lang="zh-CN" sz="12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Line 18"/>
          <p:cNvSpPr/>
          <p:nvPr/>
        </p:nvSpPr>
        <p:spPr>
          <a:xfrm>
            <a:off x="7424928" y="2130552"/>
            <a:ext cx="822960" cy="1"/>
          </a:xfrm>
          <a:prstGeom prst="line">
            <a:avLst/>
          </a:prstGeom>
          <a:noFill/>
          <a:ln w="22860">
            <a:solidFill>
              <a:srgbClr val="A16207"/>
            </a:solidFill>
            <a:tailEnd type="triangle"/>
          </a:ln>
        </p:spPr>
      </p:sp>
      <p:sp>
        <p:nvSpPr>
          <p:cNvPr id="19" name="Shape 19"/>
          <p:cNvSpPr/>
          <p:nvPr/>
        </p:nvSpPr>
        <p:spPr>
          <a:xfrm>
            <a:off x="8247888" y="1645920"/>
            <a:ext cx="2971800" cy="96012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6D28D9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1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3. 仿真评估</a:t>
            </a:r>
            <a:endParaRPr lang="zh-CN" sz="11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9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预期效果、风险点、适用条件、回滚条件</a:t>
            </a:r>
            <a:endParaRPr lang="zh-CN" sz="9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Line 20"/>
          <p:cNvSpPr/>
          <p:nvPr/>
        </p:nvSpPr>
        <p:spPr>
          <a:xfrm>
            <a:off x="8357616" y="1764792"/>
            <a:ext cx="1" cy="722376"/>
          </a:xfrm>
          <a:prstGeom prst="line">
            <a:avLst/>
          </a:prstGeom>
          <a:noFill/>
          <a:ln w="38100">
            <a:solidFill>
              <a:srgbClr val="6D28D9"/>
            </a:solidFill>
          </a:ln>
        </p:spPr>
      </p:sp>
      <p:sp>
        <p:nvSpPr>
          <p:cNvPr id="21" name="Shape 21"/>
          <p:cNvSpPr/>
          <p:nvPr/>
        </p:nvSpPr>
        <p:spPr>
          <a:xfrm>
            <a:off x="8385048" y="1783080"/>
            <a:ext cx="2697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2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3. 仿真评估</a:t>
            </a:r>
            <a:endParaRPr lang="zh-CN" sz="12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Line 22"/>
          <p:cNvSpPr/>
          <p:nvPr/>
        </p:nvSpPr>
        <p:spPr>
          <a:xfrm>
            <a:off x="9729216" y="2606040"/>
            <a:ext cx="1" cy="429768"/>
          </a:xfrm>
          <a:prstGeom prst="line">
            <a:avLst/>
          </a:prstGeom>
          <a:noFill/>
          <a:ln w="22860">
            <a:solidFill>
              <a:srgbClr val="6D28D9"/>
            </a:solidFill>
            <a:tailEnd type="triangle"/>
          </a:ln>
        </p:spPr>
      </p:sp>
      <p:sp>
        <p:nvSpPr>
          <p:cNvPr id="23" name="Line 23"/>
          <p:cNvSpPr/>
          <p:nvPr/>
        </p:nvSpPr>
        <p:spPr>
          <a:xfrm flipH="1">
            <a:off x="2139696" y="3035808"/>
            <a:ext cx="7589520" cy="667512"/>
          </a:xfrm>
          <a:prstGeom prst="line">
            <a:avLst/>
          </a:prstGeom>
          <a:noFill/>
          <a:ln w="22860">
            <a:solidFill>
              <a:srgbClr val="6D28D9"/>
            </a:solidFill>
            <a:tailEnd type="triangle"/>
          </a:ln>
        </p:spPr>
      </p:sp>
      <p:sp>
        <p:nvSpPr>
          <p:cNvPr id="24" name="Shape 24"/>
          <p:cNvSpPr/>
          <p:nvPr/>
        </p:nvSpPr>
        <p:spPr>
          <a:xfrm>
            <a:off x="658368" y="3703320"/>
            <a:ext cx="2971800" cy="960120"/>
          </a:xfrm>
          <a:prstGeom prst="roundRect">
            <a:avLst/>
          </a:prstGeom>
          <a:solidFill>
            <a:srgbClr val="FEE2E2"/>
          </a:solidFill>
          <a:ln w="15240">
            <a:solidFill>
              <a:srgbClr val="B91C1C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1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4. 人工确认</a:t>
            </a:r>
            <a:endParaRPr lang="zh-CN" sz="11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9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显控审批、待确认事项、风险提示</a:t>
            </a:r>
            <a:endParaRPr lang="zh-CN" sz="9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Line 25"/>
          <p:cNvSpPr/>
          <p:nvPr/>
        </p:nvSpPr>
        <p:spPr>
          <a:xfrm>
            <a:off x="768096" y="3822192"/>
            <a:ext cx="1" cy="722376"/>
          </a:xfrm>
          <a:prstGeom prst="line">
            <a:avLst/>
          </a:prstGeom>
          <a:noFill/>
          <a:ln w="38100">
            <a:solidFill>
              <a:srgbClr val="B91C1C"/>
            </a:solidFill>
          </a:ln>
        </p:spPr>
      </p:sp>
      <p:sp>
        <p:nvSpPr>
          <p:cNvPr id="26" name="Shape 26"/>
          <p:cNvSpPr/>
          <p:nvPr/>
        </p:nvSpPr>
        <p:spPr>
          <a:xfrm>
            <a:off x="795528" y="3840480"/>
            <a:ext cx="2697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2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4. 人工确认</a:t>
            </a:r>
            <a:endParaRPr lang="zh-CN" sz="12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Line 27"/>
          <p:cNvSpPr/>
          <p:nvPr/>
        </p:nvSpPr>
        <p:spPr>
          <a:xfrm>
            <a:off x="3630168" y="4187952"/>
            <a:ext cx="822960" cy="1"/>
          </a:xfrm>
          <a:prstGeom prst="line">
            <a:avLst/>
          </a:prstGeom>
          <a:noFill/>
          <a:ln w="22860">
            <a:solidFill>
              <a:srgbClr val="B91C1C"/>
            </a:solidFill>
            <a:tailEnd type="triangle"/>
          </a:ln>
        </p:spPr>
      </p:sp>
      <p:sp>
        <p:nvSpPr>
          <p:cNvPr id="28" name="Shape 28"/>
          <p:cNvSpPr/>
          <p:nvPr/>
        </p:nvSpPr>
        <p:spPr>
          <a:xfrm>
            <a:off x="4453128" y="3703320"/>
            <a:ext cx="2971800" cy="960120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F766E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1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5. 控制请求适配</a:t>
            </a:r>
            <a:endParaRPr lang="zh-CN" sz="11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9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按控制链路协议组织经审批请求</a:t>
            </a:r>
            <a:endParaRPr lang="zh-CN" sz="9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Line 29"/>
          <p:cNvSpPr/>
          <p:nvPr/>
        </p:nvSpPr>
        <p:spPr>
          <a:xfrm>
            <a:off x="4562856" y="3822192"/>
            <a:ext cx="1" cy="722376"/>
          </a:xfrm>
          <a:prstGeom prst="line">
            <a:avLst/>
          </a:prstGeom>
          <a:noFill/>
          <a:ln w="38100">
            <a:solidFill>
              <a:srgbClr val="0F766E"/>
            </a:solidFill>
          </a:ln>
        </p:spPr>
      </p:sp>
      <p:sp>
        <p:nvSpPr>
          <p:cNvPr id="30" name="Shape 30"/>
          <p:cNvSpPr/>
          <p:nvPr/>
        </p:nvSpPr>
        <p:spPr>
          <a:xfrm>
            <a:off x="4590288" y="3840480"/>
            <a:ext cx="2697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2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5. 控制请求适配</a:t>
            </a:r>
            <a:endParaRPr lang="zh-CN" sz="12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Line 31"/>
          <p:cNvSpPr/>
          <p:nvPr/>
        </p:nvSpPr>
        <p:spPr>
          <a:xfrm>
            <a:off x="7424928" y="4187952"/>
            <a:ext cx="822960" cy="1"/>
          </a:xfrm>
          <a:prstGeom prst="line">
            <a:avLst/>
          </a:prstGeom>
          <a:noFill/>
          <a:ln w="22860">
            <a:solidFill>
              <a:srgbClr val="0F766E"/>
            </a:solidFill>
            <a:tailEnd type="triangle"/>
          </a:ln>
        </p:spPr>
      </p:sp>
      <p:sp>
        <p:nvSpPr>
          <p:cNvPr id="32" name="Shape 32"/>
          <p:cNvSpPr/>
          <p:nvPr/>
        </p:nvSpPr>
        <p:spPr>
          <a:xfrm>
            <a:off x="8247888" y="3703320"/>
            <a:ext cx="2971800" cy="96012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2F6B3F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1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6. 状态跟踪与回滚</a:t>
            </a:r>
            <a:endParaRPr lang="zh-CN" sz="11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9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受理、执行、异常、效果指标、回滚结果</a:t>
            </a:r>
            <a:endParaRPr lang="zh-CN" sz="9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Line 33"/>
          <p:cNvSpPr/>
          <p:nvPr/>
        </p:nvSpPr>
        <p:spPr>
          <a:xfrm>
            <a:off x="8357616" y="3822192"/>
            <a:ext cx="1" cy="722376"/>
          </a:xfrm>
          <a:prstGeom prst="line">
            <a:avLst/>
          </a:prstGeom>
          <a:noFill/>
          <a:ln w="38100">
            <a:solidFill>
              <a:srgbClr val="2F6B3F"/>
            </a:solidFill>
          </a:ln>
        </p:spPr>
      </p:sp>
      <p:sp>
        <p:nvSpPr>
          <p:cNvPr id="34" name="Shape 34"/>
          <p:cNvSpPr/>
          <p:nvPr/>
        </p:nvSpPr>
        <p:spPr>
          <a:xfrm>
            <a:off x="8385048" y="3840480"/>
            <a:ext cx="2697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2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6. 状态跟踪与回滚</a:t>
            </a:r>
            <a:endParaRPr lang="zh-CN" sz="12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Line 35"/>
          <p:cNvSpPr/>
          <p:nvPr/>
        </p:nvSpPr>
        <p:spPr>
          <a:xfrm flipH="1">
            <a:off x="960120" y="4663440"/>
            <a:ext cx="8769096" cy="1143000"/>
          </a:xfrm>
          <a:prstGeom prst="line">
            <a:avLst/>
          </a:prstGeom>
          <a:noFill/>
          <a:ln w="20320">
            <a:solidFill>
              <a:srgbClr val="2F6B3F"/>
            </a:solidFill>
            <a:prstDash val="dash"/>
            <a:tailEnd type="triangle"/>
          </a:ln>
        </p:spPr>
      </p:sp>
      <p:sp>
        <p:nvSpPr>
          <p:cNvPr id="36" name="Shape 36"/>
          <p:cNvSpPr/>
          <p:nvPr/>
        </p:nvSpPr>
        <p:spPr>
          <a:xfrm>
            <a:off x="960120" y="5669280"/>
            <a:ext cx="3886200" cy="420624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2F6B3F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1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效果指标、异常信息和操作员反馈进入追溯记录与记忆回流</a:t>
            </a:r>
            <a:endParaRPr lang="zh-CN" sz="11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Shape 37"/>
          <p:cNvSpPr/>
          <p:nvPr/>
        </p:nvSpPr>
        <p:spPr>
          <a:xfrm>
            <a:off x="6400800" y="5669280"/>
            <a:ext cx="4480560" cy="420624"/>
          </a:xfrm>
          <a:prstGeom prst="roundRect">
            <a:avLst/>
          </a:prstGeom>
          <a:solidFill>
            <a:srgbClr val="FEE2E2"/>
          </a:solidFill>
          <a:ln w="15240">
            <a:solidFill>
              <a:srgbClr val="B91C1C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1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控制请求由控制执行链路真实下发，智能体保留建议、流程状态和追溯引用</a:t>
            </a:r>
            <a:endParaRPr lang="zh-CN" sz="11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Line 8"/>
          <p:cNvSpPr/>
          <p:nvPr/>
        </p:nvSpPr>
        <p:spPr>
          <a:xfrm>
            <a:off x="384048" y="6455664"/>
            <a:ext cx="11411712" cy="1"/>
          </a:xfrm>
          <a:prstGeom prst="line">
            <a:avLst/>
          </a:prstGeom>
          <a:noFill/>
          <a:ln w="10160">
            <a:solidFill>
              <a:srgbClr val="CBD5E1"/>
            </a:solidFill>
          </a:ln>
        </p:spPr>
      </p:sp>
      <p:sp>
        <p:nvSpPr>
          <p:cNvPr id="9" name="Shape 9"/>
          <p:cNvSpPr/>
          <p:nvPr/>
        </p:nvSpPr>
        <p:spPr>
          <a:xfrm>
            <a:off x="384048" y="6510528"/>
            <a:ext cx="11411712" cy="164592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7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Source: 4.3.3.2 雷达智能体子系统技术方案 · editable PowerPoint shapes</a:t>
            </a:r>
            <a:endParaRPr lang="zh-CN" sz="7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384048" y="201168"/>
            <a:ext cx="11430000" cy="219456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8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SEQUENCE DIAGRAM</a:t>
            </a:r>
            <a:endParaRPr lang="zh-CN" sz="80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384048" y="475488"/>
            <a:ext cx="7498080" cy="493776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高风险任务时序交互图</a:t>
            </a:r>
            <a:endParaRPr lang="zh-CN" sz="2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Line 5"/>
          <p:cNvSpPr/>
          <p:nvPr/>
        </p:nvSpPr>
        <p:spPr>
          <a:xfrm>
            <a:off x="384048" y="1060704"/>
            <a:ext cx="11411712" cy="1"/>
          </a:xfrm>
          <a:prstGeom prst="line">
            <a:avLst/>
          </a:prstGeom>
          <a:noFill/>
          <a:ln w="12700">
            <a:solidFill>
              <a:srgbClr val="CBD5E1"/>
            </a:solidFill>
          </a:ln>
        </p:spPr>
      </p:sp>
      <p:sp>
        <p:nvSpPr>
          <p:cNvPr id="6" name="Shape 6"/>
          <p:cNvSpPr/>
          <p:nvPr/>
        </p:nvSpPr>
        <p:spPr>
          <a:xfrm>
            <a:off x="10515600" y="475488"/>
            <a:ext cx="128016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9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07 / 09</a:t>
            </a:r>
            <a:endParaRPr lang="zh-CN" sz="90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384048" y="1115568"/>
            <a:ext cx="10881360" cy="292608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0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展示认知核心提交方案后，任务运行管理、安全门控、工作流、工具执行和外部控制链路之间的关键交互。</a:t>
            </a:r>
            <a:endParaRPr lang="zh-CN" sz="10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658368" y="1426464"/>
            <a:ext cx="1298448" cy="384048"/>
          </a:xfrm>
          <a:prstGeom prst="roundRect">
            <a:avLst/>
          </a:prstGeom>
          <a:solidFill>
            <a:srgbClr val="1F4E79"/>
          </a:solidFill>
          <a:ln w="15240">
            <a:solidFill>
              <a:srgbClr val="1F4E79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认知核心</a:t>
            </a:r>
            <a:endParaRPr lang="zh-CN"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Line 12"/>
          <p:cNvSpPr/>
          <p:nvPr/>
        </p:nvSpPr>
        <p:spPr>
          <a:xfrm>
            <a:off x="1307592" y="1828800"/>
            <a:ext cx="1" cy="4160520"/>
          </a:xfrm>
          <a:prstGeom prst="line">
            <a:avLst/>
          </a:prstGeom>
          <a:noFill/>
          <a:ln w="12700">
            <a:solidFill>
              <a:srgbClr val="AAB6C5"/>
            </a:solidFill>
            <a:prstDash val="dash"/>
          </a:ln>
        </p:spPr>
      </p:sp>
      <p:sp>
        <p:nvSpPr>
          <p:cNvPr id="13" name="Shape 13"/>
          <p:cNvSpPr/>
          <p:nvPr/>
        </p:nvSpPr>
        <p:spPr>
          <a:xfrm>
            <a:off x="2395728" y="1426464"/>
            <a:ext cx="1298448" cy="384048"/>
          </a:xfrm>
          <a:prstGeom prst="roundRect">
            <a:avLst/>
          </a:prstGeom>
          <a:solidFill>
            <a:srgbClr val="6D28D9"/>
          </a:solidFill>
          <a:ln w="15240">
            <a:solidFill>
              <a:srgbClr val="6D28D9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任务运行管理</a:t>
            </a:r>
            <a:endParaRPr lang="zh-CN"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Line 14"/>
          <p:cNvSpPr/>
          <p:nvPr/>
        </p:nvSpPr>
        <p:spPr>
          <a:xfrm>
            <a:off x="3044952" y="1828800"/>
            <a:ext cx="1" cy="4160520"/>
          </a:xfrm>
          <a:prstGeom prst="line">
            <a:avLst/>
          </a:prstGeom>
          <a:noFill/>
          <a:ln w="12700">
            <a:solidFill>
              <a:srgbClr val="AAB6C5"/>
            </a:solidFill>
            <a:prstDash val="dash"/>
          </a:ln>
        </p:spPr>
      </p:sp>
      <p:sp>
        <p:nvSpPr>
          <p:cNvPr id="15" name="Shape 15"/>
          <p:cNvSpPr/>
          <p:nvPr/>
        </p:nvSpPr>
        <p:spPr>
          <a:xfrm>
            <a:off x="4133088" y="1426464"/>
            <a:ext cx="1298448" cy="384048"/>
          </a:xfrm>
          <a:prstGeom prst="roundRect">
            <a:avLst/>
          </a:prstGeom>
          <a:solidFill>
            <a:srgbClr val="B91C1C"/>
          </a:solidFill>
          <a:ln w="15240">
            <a:solidFill>
              <a:srgbClr val="B91C1C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安全门控</a:t>
            </a:r>
            <a:endParaRPr lang="zh-CN"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Line 16"/>
          <p:cNvSpPr/>
          <p:nvPr/>
        </p:nvSpPr>
        <p:spPr>
          <a:xfrm>
            <a:off x="4782312" y="1828800"/>
            <a:ext cx="1" cy="4160520"/>
          </a:xfrm>
          <a:prstGeom prst="line">
            <a:avLst/>
          </a:prstGeom>
          <a:noFill/>
          <a:ln w="12700">
            <a:solidFill>
              <a:srgbClr val="AAB6C5"/>
            </a:solidFill>
            <a:prstDash val="dash"/>
          </a:ln>
        </p:spPr>
      </p:sp>
      <p:sp>
        <p:nvSpPr>
          <p:cNvPr id="17" name="Shape 17"/>
          <p:cNvSpPr/>
          <p:nvPr/>
        </p:nvSpPr>
        <p:spPr>
          <a:xfrm>
            <a:off x="5870448" y="1426464"/>
            <a:ext cx="1298448" cy="384048"/>
          </a:xfrm>
          <a:prstGeom prst="roundRect">
            <a:avLst/>
          </a:prstGeom>
          <a:solidFill>
            <a:srgbClr val="A16207"/>
          </a:solidFill>
          <a:ln w="15240">
            <a:solidFill>
              <a:srgbClr val="A16207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工作流引擎</a:t>
            </a:r>
            <a:endParaRPr lang="zh-CN"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Line 18"/>
          <p:cNvSpPr/>
          <p:nvPr/>
        </p:nvSpPr>
        <p:spPr>
          <a:xfrm>
            <a:off x="6519672" y="1828800"/>
            <a:ext cx="1" cy="4160520"/>
          </a:xfrm>
          <a:prstGeom prst="line">
            <a:avLst/>
          </a:prstGeom>
          <a:noFill/>
          <a:ln w="12700">
            <a:solidFill>
              <a:srgbClr val="AAB6C5"/>
            </a:solidFill>
            <a:prstDash val="dash"/>
          </a:ln>
        </p:spPr>
      </p:sp>
      <p:sp>
        <p:nvSpPr>
          <p:cNvPr id="19" name="Shape 19"/>
          <p:cNvSpPr/>
          <p:nvPr/>
        </p:nvSpPr>
        <p:spPr>
          <a:xfrm>
            <a:off x="7607808" y="1426464"/>
            <a:ext cx="1298448" cy="384048"/>
          </a:xfrm>
          <a:prstGeom prst="roundRect">
            <a:avLst/>
          </a:prstGeom>
          <a:solidFill>
            <a:srgbClr val="0F766E"/>
          </a:solidFill>
          <a:ln w="15240">
            <a:solidFill>
              <a:srgbClr val="0F766E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工具执行</a:t>
            </a:r>
            <a:endParaRPr lang="zh-CN"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Line 20"/>
          <p:cNvSpPr/>
          <p:nvPr/>
        </p:nvSpPr>
        <p:spPr>
          <a:xfrm>
            <a:off x="8257032" y="1828800"/>
            <a:ext cx="1" cy="4160520"/>
          </a:xfrm>
          <a:prstGeom prst="line">
            <a:avLst/>
          </a:prstGeom>
          <a:noFill/>
          <a:ln w="12700">
            <a:solidFill>
              <a:srgbClr val="AAB6C5"/>
            </a:solidFill>
            <a:prstDash val="dash"/>
          </a:ln>
        </p:spPr>
      </p:sp>
      <p:sp>
        <p:nvSpPr>
          <p:cNvPr id="21" name="Shape 21"/>
          <p:cNvSpPr/>
          <p:nvPr/>
        </p:nvSpPr>
        <p:spPr>
          <a:xfrm>
            <a:off x="9345168" y="1426464"/>
            <a:ext cx="1298448" cy="384048"/>
          </a:xfrm>
          <a:prstGeom prst="roundRect">
            <a:avLst/>
          </a:prstGeom>
          <a:solidFill>
            <a:srgbClr val="2F6B3F"/>
          </a:solidFill>
          <a:ln w="15240">
            <a:solidFill>
              <a:srgbClr val="2F6B3F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外部服务/控制链路</a:t>
            </a:r>
            <a:endParaRPr lang="zh-CN"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Line 22"/>
          <p:cNvSpPr/>
          <p:nvPr/>
        </p:nvSpPr>
        <p:spPr>
          <a:xfrm>
            <a:off x="9994392" y="1828800"/>
            <a:ext cx="1" cy="4160520"/>
          </a:xfrm>
          <a:prstGeom prst="line">
            <a:avLst/>
          </a:prstGeom>
          <a:noFill/>
          <a:ln w="12700">
            <a:solidFill>
              <a:srgbClr val="AAB6C5"/>
            </a:solidFill>
            <a:prstDash val="dash"/>
          </a:ln>
        </p:spPr>
      </p:sp>
      <p:sp>
        <p:nvSpPr>
          <p:cNvPr id="23" name="Line 23"/>
          <p:cNvSpPr/>
          <p:nvPr/>
        </p:nvSpPr>
        <p:spPr>
          <a:xfrm>
            <a:off x="1307592" y="2057400"/>
            <a:ext cx="1737360" cy="1"/>
          </a:xfrm>
          <a:prstGeom prst="line">
            <a:avLst/>
          </a:prstGeom>
          <a:noFill/>
          <a:ln w="17780">
            <a:solidFill>
              <a:srgbClr val="1F4E79"/>
            </a:solidFill>
            <a:tailEnd type="triangle"/>
          </a:ln>
        </p:spPr>
      </p:sp>
      <p:sp>
        <p:nvSpPr>
          <p:cNvPr id="24" name="Shape 24"/>
          <p:cNvSpPr/>
          <p:nvPr/>
        </p:nvSpPr>
        <p:spPr>
          <a:xfrm>
            <a:off x="1380744" y="1883664"/>
            <a:ext cx="1591056" cy="20116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7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提交执行计划/工具建议/流程触发建议</a:t>
            </a:r>
            <a:endParaRPr lang="zh-CN" sz="7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Line 25"/>
          <p:cNvSpPr/>
          <p:nvPr/>
        </p:nvSpPr>
        <p:spPr>
          <a:xfrm>
            <a:off x="3044952" y="2560320"/>
            <a:ext cx="1737360" cy="1"/>
          </a:xfrm>
          <a:prstGeom prst="line">
            <a:avLst/>
          </a:prstGeom>
          <a:noFill/>
          <a:ln w="17780">
            <a:solidFill>
              <a:srgbClr val="6D28D9"/>
            </a:solidFill>
            <a:tailEnd type="triangle"/>
          </a:ln>
        </p:spPr>
      </p:sp>
      <p:sp>
        <p:nvSpPr>
          <p:cNvPr id="26" name="Shape 26"/>
          <p:cNvSpPr/>
          <p:nvPr/>
        </p:nvSpPr>
        <p:spPr>
          <a:xfrm>
            <a:off x="3118104" y="2386584"/>
            <a:ext cx="1591056" cy="20116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7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组织风险分级并提交门控校验</a:t>
            </a:r>
            <a:endParaRPr lang="zh-CN" sz="7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Line 27"/>
          <p:cNvSpPr/>
          <p:nvPr/>
        </p:nvSpPr>
        <p:spPr>
          <a:xfrm>
            <a:off x="4782312" y="3035808"/>
            <a:ext cx="1" cy="1"/>
          </a:xfrm>
          <a:prstGeom prst="line">
            <a:avLst/>
          </a:prstGeom>
          <a:noFill/>
          <a:ln w="17780">
            <a:solidFill>
              <a:srgbClr val="B91C1C"/>
            </a:solidFill>
            <a:prstDash val="dash"/>
            <a:tailEnd type="triangle"/>
          </a:ln>
        </p:spPr>
      </p:sp>
      <p:sp>
        <p:nvSpPr>
          <p:cNvPr id="28" name="Shape 28"/>
          <p:cNvSpPr/>
          <p:nvPr/>
        </p:nvSpPr>
        <p:spPr>
          <a:xfrm>
            <a:off x="4892040" y="2852928"/>
            <a:ext cx="2377440" cy="20116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7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权限、参数边界、雷达状态、审批状态校验</a:t>
            </a:r>
            <a:endParaRPr lang="zh-CN" sz="7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Line 29"/>
          <p:cNvSpPr/>
          <p:nvPr/>
        </p:nvSpPr>
        <p:spPr>
          <a:xfrm flipH="1">
            <a:off x="3044952" y="3511296"/>
            <a:ext cx="1737360" cy="1"/>
          </a:xfrm>
          <a:prstGeom prst="line">
            <a:avLst/>
          </a:prstGeom>
          <a:noFill/>
          <a:ln w="17780">
            <a:solidFill>
              <a:srgbClr val="B91C1C"/>
            </a:solidFill>
            <a:tailEnd type="triangle"/>
          </a:ln>
        </p:spPr>
      </p:sp>
      <p:sp>
        <p:nvSpPr>
          <p:cNvPr id="30" name="Shape 30"/>
          <p:cNvSpPr/>
          <p:nvPr/>
        </p:nvSpPr>
        <p:spPr>
          <a:xfrm>
            <a:off x="3118104" y="3337560"/>
            <a:ext cx="1591056" cy="20116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7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要求进入受控工作流</a:t>
            </a:r>
            <a:endParaRPr lang="zh-CN" sz="7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Line 31"/>
          <p:cNvSpPr/>
          <p:nvPr/>
        </p:nvSpPr>
        <p:spPr>
          <a:xfrm>
            <a:off x="3044952" y="3977640"/>
            <a:ext cx="3474720" cy="1"/>
          </a:xfrm>
          <a:prstGeom prst="line">
            <a:avLst/>
          </a:prstGeom>
          <a:noFill/>
          <a:ln w="17780">
            <a:solidFill>
              <a:srgbClr val="A16207"/>
            </a:solidFill>
            <a:tailEnd type="triangle"/>
          </a:ln>
        </p:spPr>
      </p:sp>
      <p:sp>
        <p:nvSpPr>
          <p:cNvPr id="32" name="Shape 32"/>
          <p:cNvSpPr/>
          <p:nvPr/>
        </p:nvSpPr>
        <p:spPr>
          <a:xfrm>
            <a:off x="3118104" y="3803904"/>
            <a:ext cx="3328416" cy="20116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7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触发工作流实例</a:t>
            </a:r>
            <a:endParaRPr lang="zh-CN" sz="7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Line 33"/>
          <p:cNvSpPr/>
          <p:nvPr/>
        </p:nvSpPr>
        <p:spPr>
          <a:xfrm flipH="1">
            <a:off x="4782312" y="4443984"/>
            <a:ext cx="1737360" cy="1"/>
          </a:xfrm>
          <a:prstGeom prst="line">
            <a:avLst/>
          </a:prstGeom>
          <a:noFill/>
          <a:ln w="17780">
            <a:solidFill>
              <a:srgbClr val="A16207"/>
            </a:solidFill>
            <a:tailEnd type="triangle"/>
          </a:ln>
        </p:spPr>
      </p:sp>
      <p:sp>
        <p:nvSpPr>
          <p:cNvPr id="34" name="Shape 34"/>
          <p:cNvSpPr/>
          <p:nvPr/>
        </p:nvSpPr>
        <p:spPr>
          <a:xfrm>
            <a:off x="4855464" y="4270248"/>
            <a:ext cx="1591056" cy="20116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7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参数边界/审批/检查点</a:t>
            </a:r>
            <a:endParaRPr lang="zh-CN" sz="7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Line 35"/>
          <p:cNvSpPr/>
          <p:nvPr/>
        </p:nvSpPr>
        <p:spPr>
          <a:xfrm>
            <a:off x="6519672" y="4910328"/>
            <a:ext cx="1737360" cy="1"/>
          </a:xfrm>
          <a:prstGeom prst="line">
            <a:avLst/>
          </a:prstGeom>
          <a:noFill/>
          <a:ln w="17780">
            <a:solidFill>
              <a:srgbClr val="0F766E"/>
            </a:solidFill>
            <a:tailEnd type="triangle"/>
          </a:ln>
        </p:spPr>
      </p:sp>
      <p:sp>
        <p:nvSpPr>
          <p:cNvPr id="36" name="Shape 36"/>
          <p:cNvSpPr/>
          <p:nvPr/>
        </p:nvSpPr>
        <p:spPr>
          <a:xfrm>
            <a:off x="6592824" y="4736592"/>
            <a:ext cx="1591056" cy="20116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7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调用控制请求适配工具</a:t>
            </a:r>
            <a:endParaRPr lang="zh-CN" sz="7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Line 37"/>
          <p:cNvSpPr/>
          <p:nvPr/>
        </p:nvSpPr>
        <p:spPr>
          <a:xfrm>
            <a:off x="8257032" y="5376672"/>
            <a:ext cx="1737360" cy="1"/>
          </a:xfrm>
          <a:prstGeom prst="line">
            <a:avLst/>
          </a:prstGeom>
          <a:noFill/>
          <a:ln w="17780">
            <a:solidFill>
              <a:srgbClr val="2F6B3F"/>
            </a:solidFill>
            <a:tailEnd type="triangle"/>
          </a:ln>
        </p:spPr>
      </p:sp>
      <p:sp>
        <p:nvSpPr>
          <p:cNvPr id="38" name="Shape 38"/>
          <p:cNvSpPr/>
          <p:nvPr/>
        </p:nvSpPr>
        <p:spPr>
          <a:xfrm>
            <a:off x="8330184" y="5202936"/>
            <a:ext cx="1591056" cy="20116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7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发送经审批的控制请求</a:t>
            </a:r>
            <a:endParaRPr lang="zh-CN" sz="7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Line 39"/>
          <p:cNvSpPr/>
          <p:nvPr/>
        </p:nvSpPr>
        <p:spPr>
          <a:xfrm flipH="1">
            <a:off x="8257032" y="5833872"/>
            <a:ext cx="1737360" cy="1"/>
          </a:xfrm>
          <a:prstGeom prst="line">
            <a:avLst/>
          </a:prstGeom>
          <a:noFill/>
          <a:ln w="17780">
            <a:solidFill>
              <a:srgbClr val="2F6B3F"/>
            </a:solidFill>
            <a:tailEnd type="triangle"/>
          </a:ln>
        </p:spPr>
      </p:sp>
      <p:sp>
        <p:nvSpPr>
          <p:cNvPr id="40" name="Shape 40"/>
          <p:cNvSpPr/>
          <p:nvPr/>
        </p:nvSpPr>
        <p:spPr>
          <a:xfrm>
            <a:off x="8330184" y="5660136"/>
            <a:ext cx="1591056" cy="20116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7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返回受理与执行状态</a:t>
            </a:r>
            <a:endParaRPr lang="zh-CN" sz="7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Shape 41"/>
          <p:cNvSpPr/>
          <p:nvPr/>
        </p:nvSpPr>
        <p:spPr>
          <a:xfrm>
            <a:off x="713232" y="6053328"/>
            <a:ext cx="106070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9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只读或低风险任务可由安全门控放行动态工具调用；高风险或控制请求进入工作流模板并绑定追溯引用。</a:t>
            </a:r>
            <a:endParaRPr lang="zh-CN" sz="9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Line 8"/>
          <p:cNvSpPr/>
          <p:nvPr/>
        </p:nvSpPr>
        <p:spPr>
          <a:xfrm>
            <a:off x="384048" y="6455664"/>
            <a:ext cx="11411712" cy="1"/>
          </a:xfrm>
          <a:prstGeom prst="line">
            <a:avLst/>
          </a:prstGeom>
          <a:noFill/>
          <a:ln w="10160">
            <a:solidFill>
              <a:srgbClr val="CBD5E1"/>
            </a:solidFill>
          </a:ln>
        </p:spPr>
      </p:sp>
      <p:sp>
        <p:nvSpPr>
          <p:cNvPr id="9" name="Shape 9"/>
          <p:cNvSpPr/>
          <p:nvPr/>
        </p:nvSpPr>
        <p:spPr>
          <a:xfrm>
            <a:off x="384048" y="6510528"/>
            <a:ext cx="11411712" cy="164592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7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Source: 4.3.3.2 雷达智能体子系统技术方案 · editable PowerPoint shapes</a:t>
            </a:r>
            <a:endParaRPr lang="zh-CN" sz="7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384048" y="201168"/>
            <a:ext cx="11430000" cy="219456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8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THREE-TIER MEMORY LOOP</a:t>
            </a:r>
            <a:endParaRPr lang="zh-CN" sz="80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384048" y="475488"/>
            <a:ext cx="7498080" cy="493776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三阶分层记忆闭环图</a:t>
            </a:r>
            <a:endParaRPr lang="zh-CN" sz="2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Line 5"/>
          <p:cNvSpPr/>
          <p:nvPr/>
        </p:nvSpPr>
        <p:spPr>
          <a:xfrm>
            <a:off x="384048" y="1060704"/>
            <a:ext cx="11411712" cy="1"/>
          </a:xfrm>
          <a:prstGeom prst="line">
            <a:avLst/>
          </a:prstGeom>
          <a:noFill/>
          <a:ln w="12700">
            <a:solidFill>
              <a:srgbClr val="CBD5E1"/>
            </a:solidFill>
          </a:ln>
        </p:spPr>
      </p:sp>
      <p:sp>
        <p:nvSpPr>
          <p:cNvPr id="6" name="Shape 6"/>
          <p:cNvSpPr/>
          <p:nvPr/>
        </p:nvSpPr>
        <p:spPr>
          <a:xfrm>
            <a:off x="10515600" y="475488"/>
            <a:ext cx="128016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9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08 / 09</a:t>
            </a:r>
            <a:endParaRPr lang="zh-CN" sz="90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384048" y="1115568"/>
            <a:ext cx="10881360" cy="292608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0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短期记忆支撑当前任务，中期记忆组织近期任务链，长期记忆沉淀知识、案例、策略和经验资产。</a:t>
            </a:r>
            <a:endParaRPr lang="zh-CN" sz="10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749808" y="2761488"/>
            <a:ext cx="1828800" cy="102412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1F4E79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9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任务目标 / 感知证据</a:t>
            </a:r>
            <a:endParaRPr lang="zh-CN" sz="9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9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雷达状态 / 工具结果</a:t>
            </a:r>
            <a:endParaRPr lang="zh-CN" sz="9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Line 12"/>
          <p:cNvSpPr/>
          <p:nvPr/>
        </p:nvSpPr>
        <p:spPr>
          <a:xfrm>
            <a:off x="859536" y="2880360"/>
            <a:ext cx="1" cy="786384"/>
          </a:xfrm>
          <a:prstGeom prst="line">
            <a:avLst/>
          </a:prstGeom>
          <a:noFill/>
          <a:ln w="38100">
            <a:solidFill>
              <a:srgbClr val="1F4E79"/>
            </a:solidFill>
          </a:ln>
        </p:spPr>
      </p:sp>
      <p:sp>
        <p:nvSpPr>
          <p:cNvPr id="13" name="Shape 13"/>
          <p:cNvSpPr/>
          <p:nvPr/>
        </p:nvSpPr>
        <p:spPr>
          <a:xfrm>
            <a:off x="886968" y="2898648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2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当前任务上下文</a:t>
            </a:r>
            <a:endParaRPr lang="zh-CN" sz="12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Shape 14"/>
          <p:cNvSpPr/>
          <p:nvPr/>
        </p:nvSpPr>
        <p:spPr>
          <a:xfrm>
            <a:off x="2907792" y="1664208"/>
            <a:ext cx="1828800" cy="1024128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F766E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1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短期记忆</a:t>
            </a:r>
            <a:endParaRPr lang="zh-CN" sz="11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9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上下文版本</a:t>
            </a:r>
            <a:endParaRPr lang="zh-CN" sz="9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9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证据编号</a:t>
            </a:r>
            <a:endParaRPr lang="zh-CN" sz="9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9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任务状态</a:t>
            </a:r>
            <a:endParaRPr lang="zh-CN" sz="9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Line 15"/>
          <p:cNvSpPr/>
          <p:nvPr/>
        </p:nvSpPr>
        <p:spPr>
          <a:xfrm>
            <a:off x="3017520" y="1783080"/>
            <a:ext cx="1" cy="786384"/>
          </a:xfrm>
          <a:prstGeom prst="line">
            <a:avLst/>
          </a:prstGeom>
          <a:noFill/>
          <a:ln w="38100">
            <a:solidFill>
              <a:srgbClr val="0F766E"/>
            </a:solidFill>
          </a:ln>
        </p:spPr>
      </p:sp>
      <p:sp>
        <p:nvSpPr>
          <p:cNvPr id="16" name="Shape 16"/>
          <p:cNvSpPr/>
          <p:nvPr/>
        </p:nvSpPr>
        <p:spPr>
          <a:xfrm>
            <a:off x="3044952" y="1801368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endParaRPr lang="zh-CN" sz="12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Shape 17"/>
          <p:cNvSpPr/>
          <p:nvPr/>
        </p:nvSpPr>
        <p:spPr>
          <a:xfrm>
            <a:off x="5166360" y="2761488"/>
            <a:ext cx="1828800" cy="1024128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6D28D9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1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追溯记录</a:t>
            </a:r>
            <a:endParaRPr lang="zh-CN" sz="11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9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输入 / 推理 / 调用</a:t>
            </a:r>
            <a:endParaRPr lang="zh-CN" sz="9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9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审批 / 结果 / 反馈</a:t>
            </a:r>
            <a:endParaRPr lang="zh-CN" sz="9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Line 18"/>
          <p:cNvSpPr/>
          <p:nvPr/>
        </p:nvSpPr>
        <p:spPr>
          <a:xfrm>
            <a:off x="5276088" y="2880360"/>
            <a:ext cx="1" cy="786384"/>
          </a:xfrm>
          <a:prstGeom prst="line">
            <a:avLst/>
          </a:prstGeom>
          <a:noFill/>
          <a:ln w="38100">
            <a:solidFill>
              <a:srgbClr val="6D28D9"/>
            </a:solidFill>
          </a:ln>
        </p:spPr>
      </p:sp>
      <p:sp>
        <p:nvSpPr>
          <p:cNvPr id="19" name="Shape 19"/>
          <p:cNvSpPr/>
          <p:nvPr/>
        </p:nvSpPr>
        <p:spPr>
          <a:xfrm>
            <a:off x="5303520" y="2898648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2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追溯记录</a:t>
            </a:r>
            <a:endParaRPr lang="zh-CN" sz="12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Shape 20"/>
          <p:cNvSpPr/>
          <p:nvPr/>
        </p:nvSpPr>
        <p:spPr>
          <a:xfrm>
            <a:off x="7452360" y="1664208"/>
            <a:ext cx="1828800" cy="102412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A16207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1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中期任务链</a:t>
            </a:r>
            <a:endParaRPr lang="zh-CN" sz="11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9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目标链 / 区域链</a:t>
            </a:r>
            <a:endParaRPr lang="zh-CN" sz="9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9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参数链 / 异常链</a:t>
            </a:r>
            <a:endParaRPr lang="zh-CN" sz="9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Line 21"/>
          <p:cNvSpPr/>
          <p:nvPr/>
        </p:nvSpPr>
        <p:spPr>
          <a:xfrm>
            <a:off x="7562088" y="1783080"/>
            <a:ext cx="1" cy="786384"/>
          </a:xfrm>
          <a:prstGeom prst="line">
            <a:avLst/>
          </a:prstGeom>
          <a:noFill/>
          <a:ln w="38100">
            <a:solidFill>
              <a:srgbClr val="A16207"/>
            </a:solidFill>
          </a:ln>
        </p:spPr>
      </p:sp>
      <p:sp>
        <p:nvSpPr>
          <p:cNvPr id="22" name="Shape 22"/>
          <p:cNvSpPr/>
          <p:nvPr/>
        </p:nvSpPr>
        <p:spPr>
          <a:xfrm>
            <a:off x="7589520" y="1801368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2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中期任务链</a:t>
            </a:r>
            <a:endParaRPr lang="zh-CN" sz="12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Shape 23"/>
          <p:cNvSpPr/>
          <p:nvPr/>
        </p:nvSpPr>
        <p:spPr>
          <a:xfrm>
            <a:off x="9253728" y="2761488"/>
            <a:ext cx="1828800" cy="1024128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2F6B3F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1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长期经验资产</a:t>
            </a:r>
            <a:endParaRPr lang="zh-CN" sz="11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9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知识库 / 案例库</a:t>
            </a:r>
            <a:endParaRPr lang="zh-CN" sz="9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9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策略库 / 经验库</a:t>
            </a:r>
            <a:endParaRPr lang="zh-CN" sz="9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Line 24"/>
          <p:cNvSpPr/>
          <p:nvPr/>
        </p:nvSpPr>
        <p:spPr>
          <a:xfrm>
            <a:off x="9363456" y="2880360"/>
            <a:ext cx="1" cy="786384"/>
          </a:xfrm>
          <a:prstGeom prst="line">
            <a:avLst/>
          </a:prstGeom>
          <a:noFill/>
          <a:ln w="38100">
            <a:solidFill>
              <a:srgbClr val="2F6B3F"/>
            </a:solidFill>
          </a:ln>
        </p:spPr>
      </p:sp>
      <p:sp>
        <p:nvSpPr>
          <p:cNvPr id="25" name="Shape 25"/>
          <p:cNvSpPr/>
          <p:nvPr/>
        </p:nvSpPr>
        <p:spPr>
          <a:xfrm>
            <a:off x="9390888" y="2898648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2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长期经验资产</a:t>
            </a:r>
            <a:endParaRPr lang="zh-CN" sz="12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Line 26"/>
          <p:cNvSpPr/>
          <p:nvPr/>
        </p:nvSpPr>
        <p:spPr>
          <a:xfrm flipV="1">
            <a:off x="2578608" y="2176272"/>
            <a:ext cx="329184" cy="1097280"/>
          </a:xfrm>
          <a:prstGeom prst="line">
            <a:avLst/>
          </a:prstGeom>
          <a:noFill/>
          <a:ln w="22860">
            <a:solidFill>
              <a:srgbClr val="1F4E79"/>
            </a:solidFill>
            <a:tailEnd type="triangle"/>
          </a:ln>
        </p:spPr>
      </p:sp>
      <p:sp>
        <p:nvSpPr>
          <p:cNvPr id="27" name="Line 27"/>
          <p:cNvSpPr/>
          <p:nvPr/>
        </p:nvSpPr>
        <p:spPr>
          <a:xfrm>
            <a:off x="4736592" y="2176272"/>
            <a:ext cx="429768" cy="1097280"/>
          </a:xfrm>
          <a:prstGeom prst="line">
            <a:avLst/>
          </a:prstGeom>
          <a:noFill/>
          <a:ln w="22860">
            <a:solidFill>
              <a:srgbClr val="0F766E"/>
            </a:solidFill>
            <a:tailEnd type="triangle"/>
          </a:ln>
        </p:spPr>
      </p:sp>
      <p:sp>
        <p:nvSpPr>
          <p:cNvPr id="28" name="Line 28"/>
          <p:cNvSpPr/>
          <p:nvPr/>
        </p:nvSpPr>
        <p:spPr>
          <a:xfrm flipV="1">
            <a:off x="6995160" y="2176272"/>
            <a:ext cx="457200" cy="1097280"/>
          </a:xfrm>
          <a:prstGeom prst="line">
            <a:avLst/>
          </a:prstGeom>
          <a:noFill/>
          <a:ln w="22860">
            <a:solidFill>
              <a:srgbClr val="6D28D9"/>
            </a:solidFill>
            <a:tailEnd type="triangle"/>
          </a:ln>
        </p:spPr>
      </p:sp>
      <p:sp>
        <p:nvSpPr>
          <p:cNvPr id="29" name="Line 29"/>
          <p:cNvSpPr/>
          <p:nvPr/>
        </p:nvSpPr>
        <p:spPr>
          <a:xfrm flipH="1">
            <a:off x="9253728" y="2176272"/>
            <a:ext cx="27432" cy="1097280"/>
          </a:xfrm>
          <a:prstGeom prst="line">
            <a:avLst/>
          </a:prstGeom>
          <a:noFill/>
          <a:ln w="22860">
            <a:solidFill>
              <a:srgbClr val="A16207"/>
            </a:solidFill>
            <a:tailEnd type="triangle"/>
          </a:ln>
        </p:spPr>
      </p:sp>
      <p:sp>
        <p:nvSpPr>
          <p:cNvPr id="30" name="Line 30"/>
          <p:cNvSpPr/>
          <p:nvPr/>
        </p:nvSpPr>
        <p:spPr>
          <a:xfrm flipH="1">
            <a:off x="1664208" y="3785616"/>
            <a:ext cx="8503920" cy="1"/>
          </a:xfrm>
          <a:prstGeom prst="line">
            <a:avLst/>
          </a:prstGeom>
          <a:noFill/>
          <a:ln w="20320">
            <a:solidFill>
              <a:srgbClr val="2F6B3F"/>
            </a:solidFill>
            <a:prstDash val="dash"/>
            <a:tailEnd type="triangle"/>
          </a:ln>
        </p:spPr>
      </p:sp>
      <p:sp>
        <p:nvSpPr>
          <p:cNvPr id="31" name="Shape 31"/>
          <p:cNvSpPr/>
          <p:nvPr/>
        </p:nvSpPr>
        <p:spPr>
          <a:xfrm>
            <a:off x="4343400" y="4709160"/>
            <a:ext cx="3520440" cy="676656"/>
          </a:xfrm>
          <a:prstGeom prst="roundRect">
            <a:avLst/>
          </a:prstGeom>
          <a:solidFill>
            <a:srgbClr val="FEE2E2"/>
          </a:solidFill>
          <a:ln w="15240">
            <a:solidFill>
              <a:srgbClr val="B91C1C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3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质量评估与复核</a:t>
            </a:r>
            <a:endParaRPr lang="zh-CN" sz="13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1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冲突检查 / 适用边界 / 版本管理 / 影子运行</a:t>
            </a:r>
            <a:endParaRPr lang="zh-CN" sz="11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Line 32"/>
          <p:cNvSpPr/>
          <p:nvPr/>
        </p:nvSpPr>
        <p:spPr>
          <a:xfrm>
            <a:off x="6080760" y="3785616"/>
            <a:ext cx="1" cy="923544"/>
          </a:xfrm>
          <a:prstGeom prst="line">
            <a:avLst/>
          </a:prstGeom>
          <a:noFill/>
          <a:ln w="20320">
            <a:solidFill>
              <a:srgbClr val="B91C1C"/>
            </a:solidFill>
            <a:tailEnd type="triangle"/>
          </a:ln>
        </p:spPr>
      </p:sp>
      <p:sp>
        <p:nvSpPr>
          <p:cNvPr id="33" name="Shape 33"/>
          <p:cNvSpPr/>
          <p:nvPr/>
        </p:nvSpPr>
        <p:spPr>
          <a:xfrm>
            <a:off x="822960" y="5806440"/>
            <a:ext cx="104698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0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记忆回流原则：不是把一次任务记录直接变成长期经验，而是先形成经验候选，再经过质量评估、复核和版本治理。</a:t>
            </a:r>
            <a:endParaRPr lang="zh-CN" sz="10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Line 8"/>
          <p:cNvSpPr/>
          <p:nvPr/>
        </p:nvSpPr>
        <p:spPr>
          <a:xfrm>
            <a:off x="384048" y="6455664"/>
            <a:ext cx="11411712" cy="1"/>
          </a:xfrm>
          <a:prstGeom prst="line">
            <a:avLst/>
          </a:prstGeom>
          <a:noFill/>
          <a:ln w="10160">
            <a:solidFill>
              <a:srgbClr val="CBD5E1"/>
            </a:solidFill>
          </a:ln>
        </p:spPr>
      </p:sp>
      <p:sp>
        <p:nvSpPr>
          <p:cNvPr id="9" name="Shape 9"/>
          <p:cNvSpPr/>
          <p:nvPr/>
        </p:nvSpPr>
        <p:spPr>
          <a:xfrm>
            <a:off x="384048" y="6510528"/>
            <a:ext cx="11411712" cy="164592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7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Source: 4.3.3.2 雷达智能体子系统技术方案 · editable PowerPoint shapes</a:t>
            </a:r>
            <a:endParaRPr lang="zh-CN" sz="7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384048" y="201168"/>
            <a:ext cx="11430000" cy="219456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8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INTERFACE MAP</a:t>
            </a:r>
            <a:endParaRPr lang="zh-CN" sz="80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Shape 4"/>
          <p:cNvSpPr/>
          <p:nvPr/>
        </p:nvSpPr>
        <p:spPr>
          <a:xfrm>
            <a:off x="384048" y="475488"/>
            <a:ext cx="7498080" cy="493776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24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接口关系图</a:t>
            </a:r>
            <a:endParaRPr lang="zh-CN" sz="24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Line 5"/>
          <p:cNvSpPr/>
          <p:nvPr/>
        </p:nvSpPr>
        <p:spPr>
          <a:xfrm>
            <a:off x="384048" y="1060704"/>
            <a:ext cx="11411712" cy="1"/>
          </a:xfrm>
          <a:prstGeom prst="line">
            <a:avLst/>
          </a:prstGeom>
          <a:noFill/>
          <a:ln w="12700">
            <a:solidFill>
              <a:srgbClr val="CBD5E1"/>
            </a:solidFill>
          </a:ln>
        </p:spPr>
      </p:sp>
      <p:sp>
        <p:nvSpPr>
          <p:cNvPr id="6" name="Shape 6"/>
          <p:cNvSpPr/>
          <p:nvPr/>
        </p:nvSpPr>
        <p:spPr>
          <a:xfrm>
            <a:off x="10515600" y="475488"/>
            <a:ext cx="128016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9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09 / 09</a:t>
            </a:r>
            <a:endParaRPr lang="zh-CN" sz="90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384048" y="1115568"/>
            <a:ext cx="10881360" cy="292608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0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接口围绕统一任务标识、目标/区域引用、证据引用和追溯引用展开，技术类型按实现形态划分。</a:t>
            </a:r>
            <a:endParaRPr lang="zh-CN" sz="10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4247388" y="1993265"/>
            <a:ext cx="3703320" cy="2148840"/>
          </a:xfrm>
          <a:prstGeom prst="roundRect">
            <a:avLst/>
          </a:prstGeom>
          <a:solidFill>
            <a:srgbClr val="0B1220"/>
          </a:solidFill>
          <a:ln w="15240">
            <a:solidFill>
              <a:srgbClr val="0B1220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雷达智能体子系统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外部接入 / 任务运行 / 认知推理</a:t>
            </a:r>
            <a:endParaRPr lang="zh-CN" sz="1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记忆读写 / 工具代理 / 工作流代理</a:t>
            </a:r>
            <a:endParaRPr lang="zh-CN" sz="1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门控判定 / 数据库接入 / 追溯记录</a:t>
            </a:r>
            <a:endParaRPr lang="zh-CN" sz="1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4361688" y="2148840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雷达智能体子系统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566928" y="1508760"/>
            <a:ext cx="2423160" cy="82296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1F4E79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0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显控分系统</a:t>
            </a:r>
            <a:endParaRPr lang="zh-CN" sz="10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8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HTTP / 消息</a:t>
            </a:r>
            <a:endParaRPr lang="zh-CN" sz="8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8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任务提交、状态、结果</a:t>
            </a:r>
            <a:endParaRPr lang="zh-CN" sz="8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Line 14"/>
          <p:cNvSpPr/>
          <p:nvPr/>
        </p:nvSpPr>
        <p:spPr>
          <a:xfrm>
            <a:off x="676656" y="1627632"/>
            <a:ext cx="1" cy="585216"/>
          </a:xfrm>
          <a:prstGeom prst="line">
            <a:avLst/>
          </a:prstGeom>
          <a:noFill/>
          <a:ln w="38100">
            <a:solidFill>
              <a:srgbClr val="1F4E79"/>
            </a:solidFill>
          </a:ln>
        </p:spPr>
      </p:sp>
      <p:sp>
        <p:nvSpPr>
          <p:cNvPr id="15" name="Shape 15"/>
          <p:cNvSpPr/>
          <p:nvPr/>
        </p:nvSpPr>
        <p:spPr>
          <a:xfrm>
            <a:off x="704088" y="1645920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1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显控分系统</a:t>
            </a:r>
            <a:endParaRPr lang="zh-CN" sz="11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566928" y="3767328"/>
            <a:ext cx="2423160" cy="822960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F766E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0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信息处理感知子系统</a:t>
            </a:r>
            <a:endParaRPr lang="zh-CN" sz="10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8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消息接口</a:t>
            </a:r>
            <a:endParaRPr lang="zh-CN" sz="8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8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检测、识别、跟踪、定位</a:t>
            </a:r>
            <a:endParaRPr lang="zh-CN" sz="8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Line 17"/>
          <p:cNvSpPr/>
          <p:nvPr/>
        </p:nvSpPr>
        <p:spPr>
          <a:xfrm>
            <a:off x="676656" y="3886200"/>
            <a:ext cx="1" cy="585216"/>
          </a:xfrm>
          <a:prstGeom prst="line">
            <a:avLst/>
          </a:prstGeom>
          <a:noFill/>
          <a:ln w="38100">
            <a:solidFill>
              <a:srgbClr val="0F766E"/>
            </a:solidFill>
          </a:ln>
        </p:spPr>
      </p:sp>
      <p:sp>
        <p:nvSpPr>
          <p:cNvPr id="18" name="Shape 18"/>
          <p:cNvSpPr/>
          <p:nvPr/>
        </p:nvSpPr>
        <p:spPr>
          <a:xfrm>
            <a:off x="704088" y="3904488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1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信息处理感知子系统</a:t>
            </a:r>
            <a:endParaRPr lang="zh-CN" sz="11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Shape 19"/>
          <p:cNvSpPr/>
          <p:nvPr/>
        </p:nvSpPr>
        <p:spPr>
          <a:xfrm>
            <a:off x="9098280" y="1508760"/>
            <a:ext cx="2423160" cy="82296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2F6B3F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0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雷达状态与环境服务</a:t>
            </a:r>
            <a:endParaRPr lang="zh-CN" sz="10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8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网络通信 / 消息</a:t>
            </a:r>
            <a:endParaRPr lang="zh-CN" sz="8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8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状态、参数、告警</a:t>
            </a:r>
            <a:endParaRPr lang="zh-CN" sz="8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Line 20"/>
          <p:cNvSpPr/>
          <p:nvPr/>
        </p:nvSpPr>
        <p:spPr>
          <a:xfrm>
            <a:off x="9208008" y="1627632"/>
            <a:ext cx="1" cy="585216"/>
          </a:xfrm>
          <a:prstGeom prst="line">
            <a:avLst/>
          </a:prstGeom>
          <a:noFill/>
          <a:ln w="38100">
            <a:solidFill>
              <a:srgbClr val="2F6B3F"/>
            </a:solidFill>
          </a:ln>
        </p:spPr>
      </p:sp>
      <p:sp>
        <p:nvSpPr>
          <p:cNvPr id="21" name="Shape 21"/>
          <p:cNvSpPr/>
          <p:nvPr/>
        </p:nvSpPr>
        <p:spPr>
          <a:xfrm>
            <a:off x="9235440" y="1645920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1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雷达状态与环境服务</a:t>
            </a:r>
            <a:endParaRPr lang="zh-CN" sz="11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Shape 22"/>
          <p:cNvSpPr/>
          <p:nvPr/>
        </p:nvSpPr>
        <p:spPr>
          <a:xfrm>
            <a:off x="9098280" y="3767328"/>
            <a:ext cx="2423160" cy="822960"/>
          </a:xfrm>
          <a:prstGeom prst="roundRect">
            <a:avLst/>
          </a:prstGeom>
          <a:solidFill>
            <a:srgbClr val="FEE2E2"/>
          </a:solidFill>
          <a:ln w="15240">
            <a:solidFill>
              <a:srgbClr val="B91C1C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0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控制执行链路</a:t>
            </a:r>
            <a:endParaRPr lang="zh-CN" sz="10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8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网络通信</a:t>
            </a:r>
            <a:endParaRPr lang="zh-CN" sz="8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8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经审批控制请求</a:t>
            </a:r>
            <a:endParaRPr lang="zh-CN" sz="8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Line 23"/>
          <p:cNvSpPr/>
          <p:nvPr/>
        </p:nvSpPr>
        <p:spPr>
          <a:xfrm>
            <a:off x="9208008" y="3886200"/>
            <a:ext cx="1" cy="585216"/>
          </a:xfrm>
          <a:prstGeom prst="line">
            <a:avLst/>
          </a:prstGeom>
          <a:noFill/>
          <a:ln w="38100">
            <a:solidFill>
              <a:srgbClr val="B91C1C"/>
            </a:solidFill>
          </a:ln>
        </p:spPr>
      </p:sp>
      <p:sp>
        <p:nvSpPr>
          <p:cNvPr id="24" name="Shape 24"/>
          <p:cNvSpPr/>
          <p:nvPr/>
        </p:nvSpPr>
        <p:spPr>
          <a:xfrm>
            <a:off x="9235440" y="3904488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1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控制执行链路</a:t>
            </a:r>
            <a:endParaRPr lang="zh-CN" sz="11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Shape 25"/>
          <p:cNvSpPr/>
          <p:nvPr/>
        </p:nvSpPr>
        <p:spPr>
          <a:xfrm>
            <a:off x="4315968" y="5074920"/>
            <a:ext cx="2423160" cy="82296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6D28D9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10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数据知识底座</a:t>
            </a:r>
            <a:endParaRPr lang="zh-CN" sz="10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8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HTTP / 数据库</a:t>
            </a:r>
            <a:endParaRPr lang="zh-CN" sz="8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800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知识、案例、时序、图关系</a:t>
            </a:r>
            <a:endParaRPr lang="zh-CN" sz="800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Line 26"/>
          <p:cNvSpPr/>
          <p:nvPr/>
        </p:nvSpPr>
        <p:spPr>
          <a:xfrm>
            <a:off x="4425696" y="5193792"/>
            <a:ext cx="1" cy="585216"/>
          </a:xfrm>
          <a:prstGeom prst="line">
            <a:avLst/>
          </a:prstGeom>
          <a:noFill/>
          <a:ln w="38100">
            <a:solidFill>
              <a:srgbClr val="6D28D9"/>
            </a:solidFill>
          </a:ln>
        </p:spPr>
      </p:sp>
      <p:sp>
        <p:nvSpPr>
          <p:cNvPr id="27" name="Shape 27"/>
          <p:cNvSpPr/>
          <p:nvPr/>
        </p:nvSpPr>
        <p:spPr>
          <a:xfrm>
            <a:off x="4453128" y="5212080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100" b="1">
                <a:solidFill>
                  <a:srgbClr val="172033"/>
                </a:solidFill>
                <a:latin typeface="微软雅黑" panose="020B0503020204020204" charset="-122"/>
                <a:ea typeface="微软雅黑" panose="020B0503020204020204" charset="-122"/>
              </a:rPr>
              <a:t>数据知识底座</a:t>
            </a:r>
            <a:endParaRPr lang="zh-CN" sz="1100" b="1">
              <a:solidFill>
                <a:srgbClr val="1720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Line 28"/>
          <p:cNvSpPr/>
          <p:nvPr/>
        </p:nvSpPr>
        <p:spPr>
          <a:xfrm>
            <a:off x="2990088" y="1920240"/>
            <a:ext cx="1234440" cy="594360"/>
          </a:xfrm>
          <a:prstGeom prst="line">
            <a:avLst/>
          </a:prstGeom>
          <a:noFill/>
          <a:ln w="20320">
            <a:solidFill>
              <a:srgbClr val="1F4E79"/>
            </a:solidFill>
            <a:tailEnd type="triangle"/>
          </a:ln>
        </p:spPr>
      </p:sp>
      <p:sp>
        <p:nvSpPr>
          <p:cNvPr id="29" name="Line 29"/>
          <p:cNvSpPr/>
          <p:nvPr/>
        </p:nvSpPr>
        <p:spPr>
          <a:xfrm flipV="1">
            <a:off x="2990088" y="3675888"/>
            <a:ext cx="1234440" cy="502920"/>
          </a:xfrm>
          <a:prstGeom prst="line">
            <a:avLst/>
          </a:prstGeom>
          <a:noFill/>
          <a:ln w="20320">
            <a:solidFill>
              <a:srgbClr val="0F766E"/>
            </a:solidFill>
            <a:tailEnd type="triangle"/>
          </a:ln>
        </p:spPr>
      </p:sp>
      <p:sp>
        <p:nvSpPr>
          <p:cNvPr id="30" name="Line 30"/>
          <p:cNvSpPr/>
          <p:nvPr/>
        </p:nvSpPr>
        <p:spPr>
          <a:xfrm flipH="1">
            <a:off x="7927848" y="1920240"/>
            <a:ext cx="1170432" cy="594360"/>
          </a:xfrm>
          <a:prstGeom prst="line">
            <a:avLst/>
          </a:prstGeom>
          <a:noFill/>
          <a:ln w="20320">
            <a:solidFill>
              <a:srgbClr val="2F6B3F"/>
            </a:solidFill>
            <a:tailEnd type="triangle"/>
          </a:ln>
        </p:spPr>
      </p:sp>
      <p:sp>
        <p:nvSpPr>
          <p:cNvPr id="31" name="Line 31"/>
          <p:cNvSpPr/>
          <p:nvPr/>
        </p:nvSpPr>
        <p:spPr>
          <a:xfrm flipH="1" flipV="1">
            <a:off x="7927848" y="3675888"/>
            <a:ext cx="1170432" cy="502920"/>
          </a:xfrm>
          <a:prstGeom prst="line">
            <a:avLst/>
          </a:prstGeom>
          <a:noFill/>
          <a:ln w="20320">
            <a:solidFill>
              <a:srgbClr val="B91C1C"/>
            </a:solidFill>
            <a:tailEnd type="triangle"/>
          </a:ln>
        </p:spPr>
      </p:sp>
      <p:sp>
        <p:nvSpPr>
          <p:cNvPr id="32" name="Line 32"/>
          <p:cNvSpPr/>
          <p:nvPr/>
        </p:nvSpPr>
        <p:spPr>
          <a:xfrm>
            <a:off x="6163056" y="4160520"/>
            <a:ext cx="1" cy="914400"/>
          </a:xfrm>
          <a:prstGeom prst="line">
            <a:avLst/>
          </a:prstGeom>
          <a:noFill/>
          <a:ln w="20320">
            <a:solidFill>
              <a:srgbClr val="6D28D9"/>
            </a:solidFill>
            <a:tailEnd type="triangle"/>
          </a:ln>
        </p:spPr>
      </p:sp>
      <p:sp>
        <p:nvSpPr>
          <p:cNvPr id="33" name="Shape 33"/>
          <p:cNvSpPr/>
          <p:nvPr/>
        </p:nvSpPr>
        <p:spPr>
          <a:xfrm>
            <a:off x="960120" y="6016752"/>
            <a:ext cx="1225296" cy="256032"/>
          </a:xfrm>
          <a:prstGeom prst="roundRect">
            <a:avLst/>
          </a:prstGeom>
          <a:solidFill>
            <a:srgbClr val="1F4E79"/>
          </a:solidFill>
          <a:ln w="15240">
            <a:solidFill>
              <a:srgbClr val="1F4E79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HTTP</a:t>
            </a:r>
            <a:endParaRPr lang="zh-CN" sz="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Shape 34"/>
          <p:cNvSpPr/>
          <p:nvPr/>
        </p:nvSpPr>
        <p:spPr>
          <a:xfrm>
            <a:off x="2670048" y="6016752"/>
            <a:ext cx="1225296" cy="256032"/>
          </a:xfrm>
          <a:prstGeom prst="roundRect">
            <a:avLst/>
          </a:prstGeom>
          <a:solidFill>
            <a:srgbClr val="0F766E"/>
          </a:solidFill>
          <a:ln w="15240">
            <a:solidFill>
              <a:srgbClr val="0F766E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消息</a:t>
            </a:r>
            <a:endParaRPr lang="zh-CN" sz="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Shape 35"/>
          <p:cNvSpPr/>
          <p:nvPr/>
        </p:nvSpPr>
        <p:spPr>
          <a:xfrm>
            <a:off x="4379976" y="6016752"/>
            <a:ext cx="1225296" cy="256032"/>
          </a:xfrm>
          <a:prstGeom prst="roundRect">
            <a:avLst/>
          </a:prstGeom>
          <a:solidFill>
            <a:srgbClr val="2F6B3F"/>
          </a:solidFill>
          <a:ln w="15240">
            <a:solidFill>
              <a:srgbClr val="2F6B3F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网络通信</a:t>
            </a:r>
            <a:endParaRPr lang="zh-CN" sz="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Shape 36"/>
          <p:cNvSpPr/>
          <p:nvPr/>
        </p:nvSpPr>
        <p:spPr>
          <a:xfrm>
            <a:off x="6089904" y="6016752"/>
            <a:ext cx="1225296" cy="256032"/>
          </a:xfrm>
          <a:prstGeom prst="roundRect">
            <a:avLst/>
          </a:prstGeom>
          <a:solidFill>
            <a:srgbClr val="6D28D9"/>
          </a:solidFill>
          <a:ln w="15240">
            <a:solidFill>
              <a:srgbClr val="6D28D9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数据库</a:t>
            </a:r>
            <a:endParaRPr lang="zh-CN" sz="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Shape 37"/>
          <p:cNvSpPr/>
          <p:nvPr/>
        </p:nvSpPr>
        <p:spPr>
          <a:xfrm>
            <a:off x="7799832" y="6016752"/>
            <a:ext cx="1225296" cy="256032"/>
          </a:xfrm>
          <a:prstGeom prst="roundRect">
            <a:avLst/>
          </a:prstGeom>
          <a:solidFill>
            <a:srgbClr val="A16207"/>
          </a:solidFill>
          <a:ln w="15240">
            <a:solidFill>
              <a:srgbClr val="A16207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文件</a:t>
            </a:r>
            <a:endParaRPr lang="zh-CN" sz="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Shape 38"/>
          <p:cNvSpPr/>
          <p:nvPr/>
        </p:nvSpPr>
        <p:spPr>
          <a:xfrm>
            <a:off x="9509760" y="6016752"/>
            <a:ext cx="1225296" cy="256032"/>
          </a:xfrm>
          <a:prstGeom prst="roundRect">
            <a:avLst/>
          </a:prstGeom>
          <a:solidFill>
            <a:srgbClr val="B91C1C"/>
          </a:solidFill>
          <a:ln w="15240">
            <a:solidFill>
              <a:srgbClr val="B91C1C"/>
            </a:solidFill>
          </a:ln>
        </p:spPr>
        <p:txBody>
          <a:bodyPr wrap="square" lIns="91440" tIns="50292" rIns="91440" bIns="50292" anchor="ctr"/>
          <a:lstStyle/>
          <a:p>
            <a:pPr algn="ctr"/>
            <a:r>
              <a:rPr lang="zh-CN" sz="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函数库调用</a:t>
            </a:r>
            <a:endParaRPr lang="zh-CN" sz="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Line 8"/>
          <p:cNvSpPr/>
          <p:nvPr/>
        </p:nvSpPr>
        <p:spPr>
          <a:xfrm>
            <a:off x="384048" y="6455664"/>
            <a:ext cx="11411712" cy="1"/>
          </a:xfrm>
          <a:prstGeom prst="line">
            <a:avLst/>
          </a:prstGeom>
          <a:noFill/>
          <a:ln w="10160">
            <a:solidFill>
              <a:srgbClr val="CBD5E1"/>
            </a:solidFill>
          </a:ln>
        </p:spPr>
      </p:sp>
      <p:sp>
        <p:nvSpPr>
          <p:cNvPr id="9" name="Shape 9"/>
          <p:cNvSpPr/>
          <p:nvPr/>
        </p:nvSpPr>
        <p:spPr>
          <a:xfrm>
            <a:off x="384048" y="6510528"/>
            <a:ext cx="11411712" cy="164592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/>
            <a:r>
              <a:rPr lang="zh-CN" sz="7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Source: 4.3.3.2 雷达智能体子系统技术方案 · editable PowerPoint shapes</a:t>
            </a:r>
            <a:endParaRPr lang="zh-CN" sz="7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D Agent Theme">
  <a:themeElements>
    <a:clrScheme name="LD Agent">
      <a:dk1>
        <a:srgbClr val="172033"/>
      </a:dk1>
      <a:lt1>
        <a:srgbClr val="FFFFFF"/>
      </a:lt1>
      <a:dk2>
        <a:srgbClr val="0B1220"/>
      </a:dk2>
      <a:lt2>
        <a:srgbClr val="F7F9FC"/>
      </a:lt2>
      <a:accent1>
        <a:srgbClr val="1F4E79"/>
      </a:accent1>
      <a:accent2>
        <a:srgbClr val="0F766E"/>
      </a:accent2>
      <a:accent3>
        <a:srgbClr val="2F6B3F"/>
      </a:accent3>
      <a:accent4>
        <a:srgbClr val="A16207"/>
      </a:accent4>
      <a:accent5>
        <a:srgbClr val="6D28D9"/>
      </a:accent5>
      <a:accent6>
        <a:srgbClr val="B91C1C"/>
      </a:accent6>
      <a:hlink>
        <a:srgbClr val="1F4E79"/>
      </a:hlink>
      <a:folHlink>
        <a:srgbClr val="6D28D9"/>
      </a:folHlink>
    </a:clrScheme>
    <a:fontScheme name="LD Agent Fonts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LD Agent Format">
      <a:fillStyleLst>
        <a:solidFill>
          <a:schemeClr val="phClr"/>
        </a:solidFill>
      </a:fillStyleLst>
      <a:lnStyleLst>
        <a:ln w="12700">
          <a:solidFill>
            <a:schemeClr val="phClr"/>
          </a:solidFill>
        </a:ln>
        <a:ln/>
        <a:ln/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3365</Words>
  <Application>WPS 演示</Application>
  <PresentationFormat>On-screen Show (16:9)</PresentationFormat>
  <Paragraphs>397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Arial Unicode MS</vt:lpstr>
      <vt:lpstr>Calibri</vt:lpstr>
      <vt:lpstr>LD Agent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LD智能体架构流程图组</dc:title>
  <dc:creator>Codex</dc:creator>
  <cp:lastModifiedBy>杨波</cp:lastModifiedBy>
  <cp:revision>1</cp:revision>
  <dcterms:created xsi:type="dcterms:W3CDTF">2026-05-14T06:39:32Z</dcterms:created>
  <dcterms:modified xsi:type="dcterms:W3CDTF">2026-05-14T06:39:32Z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70B159A7C1E540EABF145A5AF8A1FD60_12</vt:lpwstr>
  </property>
</Properties>
</file>